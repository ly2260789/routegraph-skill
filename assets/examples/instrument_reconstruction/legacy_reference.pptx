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3335000" cy="6197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574E9-3C59-A5A1-7DF4-826F975C5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5" y="1014284"/>
            <a:ext cx="10001250" cy="2157683"/>
          </a:xfrm>
        </p:spPr>
        <p:txBody>
          <a:bodyPr anchor="b"/>
          <a:lstStyle>
            <a:lvl1pPr algn="ctr">
              <a:defRPr sz="542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08DC50-E5AE-E000-853A-246CAE4EA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6875" y="3255175"/>
            <a:ext cx="10001250" cy="1496318"/>
          </a:xfrm>
        </p:spPr>
        <p:txBody>
          <a:bodyPr/>
          <a:lstStyle>
            <a:lvl1pPr marL="0" indent="0" algn="ctr">
              <a:buNone/>
              <a:defRPr sz="2169"/>
            </a:lvl1pPr>
            <a:lvl2pPr marL="413172" indent="0" algn="ctr">
              <a:buNone/>
              <a:defRPr sz="1807"/>
            </a:lvl2pPr>
            <a:lvl3pPr marL="826343" indent="0" algn="ctr">
              <a:buNone/>
              <a:defRPr sz="1627"/>
            </a:lvl3pPr>
            <a:lvl4pPr marL="1239515" indent="0" algn="ctr">
              <a:buNone/>
              <a:defRPr sz="1446"/>
            </a:lvl4pPr>
            <a:lvl5pPr marL="1652687" indent="0" algn="ctr">
              <a:buNone/>
              <a:defRPr sz="1446"/>
            </a:lvl5pPr>
            <a:lvl6pPr marL="2065858" indent="0" algn="ctr">
              <a:buNone/>
              <a:defRPr sz="1446"/>
            </a:lvl6pPr>
            <a:lvl7pPr marL="2479030" indent="0" algn="ctr">
              <a:buNone/>
              <a:defRPr sz="1446"/>
            </a:lvl7pPr>
            <a:lvl8pPr marL="2892201" indent="0" algn="ctr">
              <a:buNone/>
              <a:defRPr sz="1446"/>
            </a:lvl8pPr>
            <a:lvl9pPr marL="3305373" indent="0" algn="ctr">
              <a:buNone/>
              <a:defRPr sz="144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1D487-16F9-0551-AA82-F39980A6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F909C-A360-0FBF-403A-9D5BA25F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2C738B-2FF1-DADA-7650-70E3F9FC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23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7C82A-D58A-47B5-0457-937CE029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85164-BC28-8BE7-51FD-26CE724D3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9F04C-1703-975B-9125-1B243E05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46380-97E0-C6F5-A010-1EA06F1D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DDC12-DE7A-4B96-1B65-E75493B1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79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2DE33-3FBB-BE4D-9BD2-30064C12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1545098"/>
            <a:ext cx="11501438" cy="2578029"/>
          </a:xfrm>
        </p:spPr>
        <p:txBody>
          <a:bodyPr anchor="b"/>
          <a:lstStyle>
            <a:lvl1pPr>
              <a:defRPr sz="542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87426A-44F9-6F9D-AFB5-4FE8777B1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836" y="4147516"/>
            <a:ext cx="11501438" cy="1355725"/>
          </a:xfrm>
        </p:spPr>
        <p:txBody>
          <a:bodyPr/>
          <a:lstStyle>
            <a:lvl1pPr marL="0" indent="0">
              <a:buNone/>
              <a:defRPr sz="2169">
                <a:solidFill>
                  <a:schemeClr val="tx1">
                    <a:tint val="75000"/>
                  </a:schemeClr>
                </a:solidFill>
              </a:defRPr>
            </a:lvl1pPr>
            <a:lvl2pPr marL="413172" indent="0">
              <a:buNone/>
              <a:defRPr sz="1807">
                <a:solidFill>
                  <a:schemeClr val="tx1">
                    <a:tint val="75000"/>
                  </a:schemeClr>
                </a:solidFill>
              </a:defRPr>
            </a:lvl2pPr>
            <a:lvl3pPr marL="826343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3pPr>
            <a:lvl4pPr marL="1239515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4pPr>
            <a:lvl5pPr marL="1652687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5pPr>
            <a:lvl6pPr marL="2065858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6pPr>
            <a:lvl7pPr marL="2479030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7pPr>
            <a:lvl8pPr marL="2892201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8pPr>
            <a:lvl9pPr marL="3305373" indent="0">
              <a:buNone/>
              <a:defRPr sz="14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493FC-801D-008D-0418-300763EC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1526F-36F0-CE76-A28F-8D459231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E1838-EBD1-CC40-F58D-58540491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92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3DA86-DA34-8588-7A55-13200037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74D54-2FF3-8876-D83E-B3CE63E2A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6782" y="1649824"/>
            <a:ext cx="5667375" cy="39323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A81AF9-9BAE-3522-EA81-E444165EE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0845" y="1649824"/>
            <a:ext cx="5667375" cy="39323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4EB0F1-8440-7F66-8523-1AE2BC3E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817B67-931D-BAF6-8B92-A1AD4B4E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36D976-DB10-7A44-3C00-7BE4AE58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62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C92B5-8175-E134-61D6-6E26FF76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18" y="329966"/>
            <a:ext cx="11501438" cy="11979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371C8E-08EF-C981-D849-3FE9D0800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518" y="1519273"/>
            <a:ext cx="5641330" cy="744572"/>
          </a:xfrm>
        </p:spPr>
        <p:txBody>
          <a:bodyPr anchor="b"/>
          <a:lstStyle>
            <a:lvl1pPr marL="0" indent="0">
              <a:buNone/>
              <a:defRPr sz="2169" b="1"/>
            </a:lvl1pPr>
            <a:lvl2pPr marL="413172" indent="0">
              <a:buNone/>
              <a:defRPr sz="1807" b="1"/>
            </a:lvl2pPr>
            <a:lvl3pPr marL="826343" indent="0">
              <a:buNone/>
              <a:defRPr sz="1627" b="1"/>
            </a:lvl3pPr>
            <a:lvl4pPr marL="1239515" indent="0">
              <a:buNone/>
              <a:defRPr sz="1446" b="1"/>
            </a:lvl4pPr>
            <a:lvl5pPr marL="1652687" indent="0">
              <a:buNone/>
              <a:defRPr sz="1446" b="1"/>
            </a:lvl5pPr>
            <a:lvl6pPr marL="2065858" indent="0">
              <a:buNone/>
              <a:defRPr sz="1446" b="1"/>
            </a:lvl6pPr>
            <a:lvl7pPr marL="2479030" indent="0">
              <a:buNone/>
              <a:defRPr sz="1446" b="1"/>
            </a:lvl7pPr>
            <a:lvl8pPr marL="2892201" indent="0">
              <a:buNone/>
              <a:defRPr sz="1446" b="1"/>
            </a:lvl8pPr>
            <a:lvl9pPr marL="3305373" indent="0">
              <a:buNone/>
              <a:defRPr sz="14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66AD10-C853-EF12-0215-B0B76E066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8518" y="2263845"/>
            <a:ext cx="5641330" cy="33297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3F6199-FBC0-A366-EE5E-2D3509E2E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0844" y="1519273"/>
            <a:ext cx="5669112" cy="744572"/>
          </a:xfrm>
        </p:spPr>
        <p:txBody>
          <a:bodyPr anchor="b"/>
          <a:lstStyle>
            <a:lvl1pPr marL="0" indent="0">
              <a:buNone/>
              <a:defRPr sz="2169" b="1"/>
            </a:lvl1pPr>
            <a:lvl2pPr marL="413172" indent="0">
              <a:buNone/>
              <a:defRPr sz="1807" b="1"/>
            </a:lvl2pPr>
            <a:lvl3pPr marL="826343" indent="0">
              <a:buNone/>
              <a:defRPr sz="1627" b="1"/>
            </a:lvl3pPr>
            <a:lvl4pPr marL="1239515" indent="0">
              <a:buNone/>
              <a:defRPr sz="1446" b="1"/>
            </a:lvl4pPr>
            <a:lvl5pPr marL="1652687" indent="0">
              <a:buNone/>
              <a:defRPr sz="1446" b="1"/>
            </a:lvl5pPr>
            <a:lvl6pPr marL="2065858" indent="0">
              <a:buNone/>
              <a:defRPr sz="1446" b="1"/>
            </a:lvl6pPr>
            <a:lvl7pPr marL="2479030" indent="0">
              <a:buNone/>
              <a:defRPr sz="1446" b="1"/>
            </a:lvl7pPr>
            <a:lvl8pPr marL="2892201" indent="0">
              <a:buNone/>
              <a:defRPr sz="1446" b="1"/>
            </a:lvl8pPr>
            <a:lvl9pPr marL="3305373" indent="0">
              <a:buNone/>
              <a:defRPr sz="14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DE9B-C0E4-F8EC-D2F6-F385F7318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50844" y="2263845"/>
            <a:ext cx="5669112" cy="33297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D143CC-D539-7D3C-F7C1-5218741F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7738BD-2612-5561-FB6E-A224A011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28DF22-D30F-F0CE-51D2-EF0B6B39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72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7E85C-72A1-5EA7-2A56-9495CC1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9D8C79-B090-7C57-BBFF-191BC696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D77BB4-F26B-1265-5504-D2B1A35A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CF962B-EA0F-B529-7201-9657C971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26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E5674-1B54-E568-EA94-47B35712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E6B5C5-4566-9CF9-4DFD-F654AC41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EEF01D-87A7-8CCE-795A-18169518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62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D0C4C-1B9C-DDC9-08F1-27A69C13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19" y="413173"/>
            <a:ext cx="4300884" cy="1446107"/>
          </a:xfrm>
        </p:spPr>
        <p:txBody>
          <a:bodyPr anchor="b"/>
          <a:lstStyle>
            <a:lvl1pPr>
              <a:defRPr sz="289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2235D5-EF2D-B87C-78AF-EC8E69A0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112" y="892341"/>
            <a:ext cx="6750844" cy="4404313"/>
          </a:xfrm>
        </p:spPr>
        <p:txBody>
          <a:bodyPr/>
          <a:lstStyle>
            <a:lvl1pPr>
              <a:defRPr sz="2892"/>
            </a:lvl1pPr>
            <a:lvl2pPr>
              <a:defRPr sz="2530"/>
            </a:lvl2pPr>
            <a:lvl3pPr>
              <a:defRPr sz="2169"/>
            </a:lvl3pPr>
            <a:lvl4pPr>
              <a:defRPr sz="1807"/>
            </a:lvl4pPr>
            <a:lvl5pPr>
              <a:defRPr sz="1807"/>
            </a:lvl5pPr>
            <a:lvl6pPr>
              <a:defRPr sz="1807"/>
            </a:lvl6pPr>
            <a:lvl7pPr>
              <a:defRPr sz="1807"/>
            </a:lvl7pPr>
            <a:lvl8pPr>
              <a:defRPr sz="1807"/>
            </a:lvl8pPr>
            <a:lvl9pPr>
              <a:defRPr sz="180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1A80D0-5D89-FC70-764D-4713C0C2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8519" y="1859280"/>
            <a:ext cx="4300884" cy="3444546"/>
          </a:xfrm>
        </p:spPr>
        <p:txBody>
          <a:bodyPr/>
          <a:lstStyle>
            <a:lvl1pPr marL="0" indent="0">
              <a:buNone/>
              <a:defRPr sz="1446"/>
            </a:lvl1pPr>
            <a:lvl2pPr marL="413172" indent="0">
              <a:buNone/>
              <a:defRPr sz="1265"/>
            </a:lvl2pPr>
            <a:lvl3pPr marL="826343" indent="0">
              <a:buNone/>
              <a:defRPr sz="1084"/>
            </a:lvl3pPr>
            <a:lvl4pPr marL="1239515" indent="0">
              <a:buNone/>
              <a:defRPr sz="904"/>
            </a:lvl4pPr>
            <a:lvl5pPr marL="1652687" indent="0">
              <a:buNone/>
              <a:defRPr sz="904"/>
            </a:lvl5pPr>
            <a:lvl6pPr marL="2065858" indent="0">
              <a:buNone/>
              <a:defRPr sz="904"/>
            </a:lvl6pPr>
            <a:lvl7pPr marL="2479030" indent="0">
              <a:buNone/>
              <a:defRPr sz="904"/>
            </a:lvl7pPr>
            <a:lvl8pPr marL="2892201" indent="0">
              <a:buNone/>
              <a:defRPr sz="904"/>
            </a:lvl8pPr>
            <a:lvl9pPr marL="3305373" indent="0">
              <a:buNone/>
              <a:defRPr sz="9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F45233-40E3-7937-E8CE-9096AC30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C717B5-CBC8-9D3D-3FB1-9921E7A8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E2809-4AFC-2E24-2315-8E213331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67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030ED-ACF3-7604-06C2-412B100B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19" y="413173"/>
            <a:ext cx="4300884" cy="1446107"/>
          </a:xfrm>
        </p:spPr>
        <p:txBody>
          <a:bodyPr anchor="b"/>
          <a:lstStyle>
            <a:lvl1pPr>
              <a:defRPr sz="289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7C7722-DCF9-5F2C-F87C-9AC58C84CD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69112" y="892341"/>
            <a:ext cx="6750844" cy="4404313"/>
          </a:xfrm>
        </p:spPr>
        <p:txBody>
          <a:bodyPr/>
          <a:lstStyle>
            <a:lvl1pPr marL="0" indent="0">
              <a:buNone/>
              <a:defRPr sz="2892"/>
            </a:lvl1pPr>
            <a:lvl2pPr marL="413172" indent="0">
              <a:buNone/>
              <a:defRPr sz="2530"/>
            </a:lvl2pPr>
            <a:lvl3pPr marL="826343" indent="0">
              <a:buNone/>
              <a:defRPr sz="2169"/>
            </a:lvl3pPr>
            <a:lvl4pPr marL="1239515" indent="0">
              <a:buNone/>
              <a:defRPr sz="1807"/>
            </a:lvl4pPr>
            <a:lvl5pPr marL="1652687" indent="0">
              <a:buNone/>
              <a:defRPr sz="1807"/>
            </a:lvl5pPr>
            <a:lvl6pPr marL="2065858" indent="0">
              <a:buNone/>
              <a:defRPr sz="1807"/>
            </a:lvl6pPr>
            <a:lvl7pPr marL="2479030" indent="0">
              <a:buNone/>
              <a:defRPr sz="1807"/>
            </a:lvl7pPr>
            <a:lvl8pPr marL="2892201" indent="0">
              <a:buNone/>
              <a:defRPr sz="1807"/>
            </a:lvl8pPr>
            <a:lvl9pPr marL="3305373" indent="0">
              <a:buNone/>
              <a:defRPr sz="1807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DEAFBD-D7E9-BFE7-8F5F-4AC09FDA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8519" y="1859280"/>
            <a:ext cx="4300884" cy="3444546"/>
          </a:xfrm>
        </p:spPr>
        <p:txBody>
          <a:bodyPr/>
          <a:lstStyle>
            <a:lvl1pPr marL="0" indent="0">
              <a:buNone/>
              <a:defRPr sz="1446"/>
            </a:lvl1pPr>
            <a:lvl2pPr marL="413172" indent="0">
              <a:buNone/>
              <a:defRPr sz="1265"/>
            </a:lvl2pPr>
            <a:lvl3pPr marL="826343" indent="0">
              <a:buNone/>
              <a:defRPr sz="1084"/>
            </a:lvl3pPr>
            <a:lvl4pPr marL="1239515" indent="0">
              <a:buNone/>
              <a:defRPr sz="904"/>
            </a:lvl4pPr>
            <a:lvl5pPr marL="1652687" indent="0">
              <a:buNone/>
              <a:defRPr sz="904"/>
            </a:lvl5pPr>
            <a:lvl6pPr marL="2065858" indent="0">
              <a:buNone/>
              <a:defRPr sz="904"/>
            </a:lvl6pPr>
            <a:lvl7pPr marL="2479030" indent="0">
              <a:buNone/>
              <a:defRPr sz="904"/>
            </a:lvl7pPr>
            <a:lvl8pPr marL="2892201" indent="0">
              <a:buNone/>
              <a:defRPr sz="904"/>
            </a:lvl8pPr>
            <a:lvl9pPr marL="3305373" indent="0">
              <a:buNone/>
              <a:defRPr sz="9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E02026-E026-8CC9-3D6F-4A7FA005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C840AC-F330-1D02-9E82-DDEC4AF0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43A33-3535-876D-8971-7D56CA9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16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BB6EB-03FA-6D08-F520-734C8FFD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E167FF-F141-40A5-2C03-E2027F9A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3288A-C856-813D-6079-C4037493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0BD3B-7A29-68F0-6E55-C0A5D5CE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2749E-ABBC-ABC1-7304-17EF1A61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7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DC1798-5831-8208-8D11-3264EFDEC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42861" y="329965"/>
            <a:ext cx="2875359" cy="52521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EC8096-CD78-5844-6DA8-BEB103C1A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6782" y="329965"/>
            <a:ext cx="8459391" cy="52521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388E5-99DF-897A-1B9C-23AE677B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DDC69-F1C7-6391-84A5-834319FB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48B02A-F2EF-8988-00E5-F434A37B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59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32F8A4-2493-9533-8A62-021111F1F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81" y="329966"/>
            <a:ext cx="11501438" cy="119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23285-E2F6-E527-3BB4-70473A5E4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781" y="1649824"/>
            <a:ext cx="11501438" cy="3932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F416C-773D-3E05-5847-D0CAE7EE0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6782" y="5744258"/>
            <a:ext cx="3000375" cy="329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074BF-30CA-44E1-8C47-640A9DC331A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89458-4AB4-7B03-2F4A-F3C9A8C5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17220" y="5744258"/>
            <a:ext cx="4500563" cy="329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C99C7-DCFC-3E56-E55B-27B53035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7845" y="5744258"/>
            <a:ext cx="3000375" cy="329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CCE70-8939-4177-8C26-9D991EAC3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2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6343" rtl="0" eaLnBrk="1" latinLnBrk="0" hangingPunct="1">
        <a:lnSpc>
          <a:spcPct val="90000"/>
        </a:lnSpc>
        <a:spcBef>
          <a:spcPct val="0"/>
        </a:spcBef>
        <a:buNone/>
        <a:defRPr sz="39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6586" indent="-206586" algn="l" defTabSz="826343" rtl="0" eaLnBrk="1" latinLnBrk="0" hangingPunct="1">
        <a:lnSpc>
          <a:spcPct val="90000"/>
        </a:lnSpc>
        <a:spcBef>
          <a:spcPts val="904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+mn-lt"/>
          <a:ea typeface="+mn-ea"/>
          <a:cs typeface="+mn-cs"/>
        </a:defRPr>
      </a:lvl1pPr>
      <a:lvl2pPr marL="619757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2169" kern="1200">
          <a:solidFill>
            <a:schemeClr val="tx1"/>
          </a:solidFill>
          <a:latin typeface="+mn-lt"/>
          <a:ea typeface="+mn-ea"/>
          <a:cs typeface="+mn-cs"/>
        </a:defRPr>
      </a:lvl2pPr>
      <a:lvl3pPr marL="1032929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446101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4pPr>
      <a:lvl5pPr marL="1859272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5pPr>
      <a:lvl6pPr marL="2272444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6pPr>
      <a:lvl7pPr marL="2685616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7pPr>
      <a:lvl8pPr marL="3098787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8pPr>
      <a:lvl9pPr marL="3511959" indent="-206586" algn="l" defTabSz="826343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1pPr>
      <a:lvl2pPr marL="413172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2pPr>
      <a:lvl3pPr marL="826343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239515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4pPr>
      <a:lvl5pPr marL="1652687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5pPr>
      <a:lvl6pPr marL="2065858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6pPr>
      <a:lvl7pPr marL="2479030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7pPr>
      <a:lvl8pPr marL="2892201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8pPr>
      <a:lvl9pPr marL="3305373" algn="l" defTabSz="826343" rtl="0" eaLnBrk="1" latinLnBrk="0" hangingPunct="1">
        <a:defRPr sz="16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ging body shadow">
            <a:extLst>
              <a:ext uri="{FF2B5EF4-FFF2-40B4-BE49-F238E27FC236}">
                <a16:creationId xmlns:a16="http://schemas.microsoft.com/office/drawing/2014/main" id="{EEA146A7-4A93-1A9B-9E09-DD3612FBAD67}"/>
              </a:ext>
            </a:extLst>
          </p:cNvPr>
          <p:cNvSpPr/>
          <p:nvPr/>
        </p:nvSpPr>
        <p:spPr>
          <a:xfrm rot="-660000">
            <a:off x="1930400" y="4013200"/>
            <a:ext cx="3225800" cy="584200"/>
          </a:xfrm>
          <a:prstGeom prst="ellipse">
            <a:avLst/>
          </a:prstGeom>
          <a:solidFill>
            <a:srgbClr val="666666">
              <a:alpha val="13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Guide assembly shadow">
            <a:extLst>
              <a:ext uri="{FF2B5EF4-FFF2-40B4-BE49-F238E27FC236}">
                <a16:creationId xmlns:a16="http://schemas.microsoft.com/office/drawing/2014/main" id="{90A3299D-8E27-BFB1-4D69-6BB1C5A77470}"/>
              </a:ext>
            </a:extLst>
          </p:cNvPr>
          <p:cNvSpPr/>
          <p:nvPr/>
        </p:nvSpPr>
        <p:spPr>
          <a:xfrm rot="-660000">
            <a:off x="5130800" y="3632200"/>
            <a:ext cx="1473200" cy="431800"/>
          </a:xfrm>
          <a:prstGeom prst="ellipse">
            <a:avLst/>
          </a:prstGeom>
          <a:solidFill>
            <a:srgbClr val="666666">
              <a:alpha val="13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assette shadow">
            <a:extLst>
              <a:ext uri="{FF2B5EF4-FFF2-40B4-BE49-F238E27FC236}">
                <a16:creationId xmlns:a16="http://schemas.microsoft.com/office/drawing/2014/main" id="{7C853D9C-28E5-C11D-C1BE-72D5C866BBF8}"/>
              </a:ext>
            </a:extLst>
          </p:cNvPr>
          <p:cNvSpPr/>
          <p:nvPr/>
        </p:nvSpPr>
        <p:spPr>
          <a:xfrm rot="-420000">
            <a:off x="7239000" y="3606800"/>
            <a:ext cx="2946400" cy="711200"/>
          </a:xfrm>
          <a:prstGeom prst="ellipse">
            <a:avLst/>
          </a:prstGeom>
          <a:solidFill>
            <a:srgbClr val="666666">
              <a:alpha val="13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late shadow">
            <a:extLst>
              <a:ext uri="{FF2B5EF4-FFF2-40B4-BE49-F238E27FC236}">
                <a16:creationId xmlns:a16="http://schemas.microsoft.com/office/drawing/2014/main" id="{90F41084-5645-5638-2E9A-331729AF38BC}"/>
              </a:ext>
            </a:extLst>
          </p:cNvPr>
          <p:cNvSpPr/>
          <p:nvPr/>
        </p:nvSpPr>
        <p:spPr>
          <a:xfrm rot="-540000">
            <a:off x="8737600" y="4394200"/>
            <a:ext cx="2235200" cy="381000"/>
          </a:xfrm>
          <a:prstGeom prst="ellipse">
            <a:avLst/>
          </a:prstGeom>
          <a:solidFill>
            <a:srgbClr val="666666">
              <a:alpha val="13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Rear fitting pipe neck">
            <a:extLst>
              <a:ext uri="{FF2B5EF4-FFF2-40B4-BE49-F238E27FC236}">
                <a16:creationId xmlns:a16="http://schemas.microsoft.com/office/drawing/2014/main" id="{96AF25EE-7B60-AE15-677E-14877B813838}"/>
              </a:ext>
            </a:extLst>
          </p:cNvPr>
          <p:cNvGrpSpPr/>
          <p:nvPr/>
        </p:nvGrpSpPr>
        <p:grpSpPr>
          <a:xfrm rot="20910000">
            <a:off x="6161624" y="3015068"/>
            <a:ext cx="447344" cy="441961"/>
            <a:chOff x="-83972" y="-220980"/>
            <a:chExt cx="447344" cy="441961"/>
          </a:xfrm>
        </p:grpSpPr>
        <p:sp>
          <p:nvSpPr>
            <p:cNvPr id="6" name="Rear fitting pipe neck - rear cap">
              <a:extLst>
                <a:ext uri="{FF2B5EF4-FFF2-40B4-BE49-F238E27FC236}">
                  <a16:creationId xmlns:a16="http://schemas.microsoft.com/office/drawing/2014/main" id="{68834047-8DC2-B36F-BDA5-7231F72D89C2}"/>
                </a:ext>
              </a:extLst>
            </p:cNvPr>
            <p:cNvSpPr/>
            <p:nvPr/>
          </p:nvSpPr>
          <p:spPr>
            <a:xfrm>
              <a:off x="195428" y="-220980"/>
              <a:ext cx="167944" cy="441960"/>
            </a:xfrm>
            <a:prstGeom prst="ellipse">
              <a:avLst/>
            </a:prstGeom>
            <a:solidFill>
              <a:srgbClr val="656767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ar fitting pipe neck - body">
              <a:extLst>
                <a:ext uri="{FF2B5EF4-FFF2-40B4-BE49-F238E27FC236}">
                  <a16:creationId xmlns:a16="http://schemas.microsoft.com/office/drawing/2014/main" id="{AB97FFCE-9192-1F43-E94A-36ACC1DE52C7}"/>
                </a:ext>
              </a:extLst>
            </p:cNvPr>
            <p:cNvSpPr/>
            <p:nvPr/>
          </p:nvSpPr>
          <p:spPr>
            <a:xfrm>
              <a:off x="0" y="-220980"/>
              <a:ext cx="279401" cy="441961"/>
            </a:xfrm>
            <a:custGeom>
              <a:avLst/>
              <a:gdLst/>
              <a:ahLst/>
              <a:cxnLst/>
              <a:rect l="0" t="0" r="0" b="0"/>
              <a:pathLst>
                <a:path w="279401" h="441961">
                  <a:moveTo>
                    <a:pt x="0" y="0"/>
                  </a:moveTo>
                  <a:lnTo>
                    <a:pt x="279400" y="0"/>
                  </a:lnTo>
                  <a:lnTo>
                    <a:pt x="279400" y="441960"/>
                  </a:lnTo>
                  <a:lnTo>
                    <a:pt x="0" y="4419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9090"/>
                </a:gs>
                <a:gs pos="100000">
                  <a:srgbClr val="656767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Rear fitting pipe neck - front rim">
              <a:extLst>
                <a:ext uri="{FF2B5EF4-FFF2-40B4-BE49-F238E27FC236}">
                  <a16:creationId xmlns:a16="http://schemas.microsoft.com/office/drawing/2014/main" id="{44E87812-8445-F14C-4DE4-F605A7619B07}"/>
                </a:ext>
              </a:extLst>
            </p:cNvPr>
            <p:cNvSpPr/>
            <p:nvPr/>
          </p:nvSpPr>
          <p:spPr>
            <a:xfrm>
              <a:off x="-83972" y="-220980"/>
              <a:ext cx="167944" cy="441960"/>
            </a:xfrm>
            <a:prstGeom prst="ellipse">
              <a:avLst/>
            </a:prstGeom>
            <a:solidFill>
              <a:srgbClr val="777B7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Rear fitting pipe shoulder">
            <a:extLst>
              <a:ext uri="{FF2B5EF4-FFF2-40B4-BE49-F238E27FC236}">
                <a16:creationId xmlns:a16="http://schemas.microsoft.com/office/drawing/2014/main" id="{9B0E6906-A6C4-5217-02BD-0268694F33B0}"/>
              </a:ext>
            </a:extLst>
          </p:cNvPr>
          <p:cNvGrpSpPr/>
          <p:nvPr/>
        </p:nvGrpSpPr>
        <p:grpSpPr>
          <a:xfrm rot="20910000">
            <a:off x="5431308" y="3043128"/>
            <a:ext cx="884326" cy="589281"/>
            <a:chOff x="-111963" y="-294640"/>
            <a:chExt cx="884326" cy="589281"/>
          </a:xfrm>
        </p:grpSpPr>
        <p:sp>
          <p:nvSpPr>
            <p:cNvPr id="10" name="Rear fitting pipe shoulder - rear cap">
              <a:extLst>
                <a:ext uri="{FF2B5EF4-FFF2-40B4-BE49-F238E27FC236}">
                  <a16:creationId xmlns:a16="http://schemas.microsoft.com/office/drawing/2014/main" id="{E0D0C221-6C7F-AE40-6F39-468FCBD30899}"/>
                </a:ext>
              </a:extLst>
            </p:cNvPr>
            <p:cNvSpPr/>
            <p:nvPr/>
          </p:nvSpPr>
          <p:spPr>
            <a:xfrm>
              <a:off x="548437" y="-294640"/>
              <a:ext cx="223926" cy="589280"/>
            </a:xfrm>
            <a:prstGeom prst="ellipse">
              <a:avLst/>
            </a:prstGeom>
            <a:solidFill>
              <a:srgbClr val="4D515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Rear fitting pipe shoulder - body">
              <a:extLst>
                <a:ext uri="{FF2B5EF4-FFF2-40B4-BE49-F238E27FC236}">
                  <a16:creationId xmlns:a16="http://schemas.microsoft.com/office/drawing/2014/main" id="{4BDC0319-0274-5CFE-3979-27A7EF73B81E}"/>
                </a:ext>
              </a:extLst>
            </p:cNvPr>
            <p:cNvSpPr/>
            <p:nvPr/>
          </p:nvSpPr>
          <p:spPr>
            <a:xfrm>
              <a:off x="0" y="-294640"/>
              <a:ext cx="660401" cy="589281"/>
            </a:xfrm>
            <a:custGeom>
              <a:avLst/>
              <a:gdLst/>
              <a:ahLst/>
              <a:cxnLst/>
              <a:rect l="0" t="0" r="0" b="0"/>
              <a:pathLst>
                <a:path w="660401" h="589281">
                  <a:moveTo>
                    <a:pt x="0" y="0"/>
                  </a:moveTo>
                  <a:lnTo>
                    <a:pt x="660400" y="0"/>
                  </a:lnTo>
                  <a:lnTo>
                    <a:pt x="660400" y="589280"/>
                  </a:lnTo>
                  <a:lnTo>
                    <a:pt x="0" y="5892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67A79"/>
                </a:gs>
                <a:gs pos="100000">
                  <a:srgbClr val="4D5151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ar fitting pipe shoulder - front rim">
              <a:extLst>
                <a:ext uri="{FF2B5EF4-FFF2-40B4-BE49-F238E27FC236}">
                  <a16:creationId xmlns:a16="http://schemas.microsoft.com/office/drawing/2014/main" id="{72537F48-093D-6EE0-8633-51B4019A88AA}"/>
                </a:ext>
              </a:extLst>
            </p:cNvPr>
            <p:cNvSpPr/>
            <p:nvPr/>
          </p:nvSpPr>
          <p:spPr>
            <a:xfrm>
              <a:off x="-111963" y="-294640"/>
              <a:ext cx="223926" cy="589280"/>
            </a:xfrm>
            <a:prstGeom prst="ellipse">
              <a:avLst/>
            </a:prstGeom>
            <a:solidFill>
              <a:srgbClr val="464D4D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Guide plate backing">
            <a:extLst>
              <a:ext uri="{FF2B5EF4-FFF2-40B4-BE49-F238E27FC236}">
                <a16:creationId xmlns:a16="http://schemas.microsoft.com/office/drawing/2014/main" id="{53669BF1-E360-7A97-0585-D5598111F7BF}"/>
              </a:ext>
            </a:extLst>
          </p:cNvPr>
          <p:cNvGrpSpPr/>
          <p:nvPr/>
        </p:nvGrpSpPr>
        <p:grpSpPr>
          <a:xfrm rot="20910000">
            <a:off x="5293963" y="3043988"/>
            <a:ext cx="447548" cy="736601"/>
            <a:chOff x="-139954" y="-368300"/>
            <a:chExt cx="447548" cy="736601"/>
          </a:xfrm>
        </p:grpSpPr>
        <p:sp>
          <p:nvSpPr>
            <p:cNvPr id="14" name="Guide plate backing - rear cap">
              <a:extLst>
                <a:ext uri="{FF2B5EF4-FFF2-40B4-BE49-F238E27FC236}">
                  <a16:creationId xmlns:a16="http://schemas.microsoft.com/office/drawing/2014/main" id="{140759E8-B5B7-A311-69E9-B04E026A976A}"/>
                </a:ext>
              </a:extLst>
            </p:cNvPr>
            <p:cNvSpPr/>
            <p:nvPr/>
          </p:nvSpPr>
          <p:spPr>
            <a:xfrm>
              <a:off x="27686" y="-368300"/>
              <a:ext cx="279908" cy="736600"/>
            </a:xfrm>
            <a:prstGeom prst="ellipse">
              <a:avLst/>
            </a:prstGeom>
            <a:solidFill>
              <a:srgbClr val="343B3C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Guide plate backing - body">
              <a:extLst>
                <a:ext uri="{FF2B5EF4-FFF2-40B4-BE49-F238E27FC236}">
                  <a16:creationId xmlns:a16="http://schemas.microsoft.com/office/drawing/2014/main" id="{F36443EB-9F36-2F81-EE7D-35C5EFC93D5D}"/>
                </a:ext>
              </a:extLst>
            </p:cNvPr>
            <p:cNvSpPr/>
            <p:nvPr/>
          </p:nvSpPr>
          <p:spPr>
            <a:xfrm>
              <a:off x="0" y="-368300"/>
              <a:ext cx="167641" cy="736601"/>
            </a:xfrm>
            <a:custGeom>
              <a:avLst/>
              <a:gdLst/>
              <a:ahLst/>
              <a:cxnLst/>
              <a:rect l="0" t="0" r="0" b="0"/>
              <a:pathLst>
                <a:path w="167641" h="736601">
                  <a:moveTo>
                    <a:pt x="0" y="0"/>
                  </a:moveTo>
                  <a:lnTo>
                    <a:pt x="167640" y="0"/>
                  </a:lnTo>
                  <a:lnTo>
                    <a:pt x="167640" y="736600"/>
                  </a:lnTo>
                  <a:lnTo>
                    <a:pt x="0" y="736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76B6B"/>
                </a:gs>
                <a:gs pos="100000">
                  <a:srgbClr val="343B3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Guide plate backing - front rim">
              <a:extLst>
                <a:ext uri="{FF2B5EF4-FFF2-40B4-BE49-F238E27FC236}">
                  <a16:creationId xmlns:a16="http://schemas.microsoft.com/office/drawing/2014/main" id="{43317938-83D7-4E64-2775-D82AD3219B6E}"/>
                </a:ext>
              </a:extLst>
            </p:cNvPr>
            <p:cNvSpPr/>
            <p:nvPr/>
          </p:nvSpPr>
          <p:spPr>
            <a:xfrm>
              <a:off x="-139954" y="-368300"/>
              <a:ext cx="279908" cy="736600"/>
            </a:xfrm>
            <a:prstGeom prst="ellipse">
              <a:avLst/>
            </a:prstGeom>
            <a:solidFill>
              <a:srgbClr val="3B484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Blue guide plate">
            <a:extLst>
              <a:ext uri="{FF2B5EF4-FFF2-40B4-BE49-F238E27FC236}">
                <a16:creationId xmlns:a16="http://schemas.microsoft.com/office/drawing/2014/main" id="{C82E222B-B0F7-8FF6-F85A-E953174B0E93}"/>
              </a:ext>
            </a:extLst>
          </p:cNvPr>
          <p:cNvGrpSpPr/>
          <p:nvPr/>
        </p:nvGrpSpPr>
        <p:grpSpPr>
          <a:xfrm rot="20910000">
            <a:off x="5190689" y="3143539"/>
            <a:ext cx="345338" cy="614681"/>
            <a:chOff x="-116789" y="-307340"/>
            <a:chExt cx="345338" cy="614681"/>
          </a:xfrm>
        </p:grpSpPr>
        <p:sp>
          <p:nvSpPr>
            <p:cNvPr id="18" name="Blue guide plate - rear cap">
              <a:extLst>
                <a:ext uri="{FF2B5EF4-FFF2-40B4-BE49-F238E27FC236}">
                  <a16:creationId xmlns:a16="http://schemas.microsoft.com/office/drawing/2014/main" id="{E8FD09A7-0189-E2E2-20CA-F9B8133A2107}"/>
                </a:ext>
              </a:extLst>
            </p:cNvPr>
            <p:cNvSpPr/>
            <p:nvPr/>
          </p:nvSpPr>
          <p:spPr>
            <a:xfrm>
              <a:off x="-5029" y="-307340"/>
              <a:ext cx="233578" cy="614680"/>
            </a:xfrm>
            <a:prstGeom prst="ellipse">
              <a:avLst/>
            </a:prstGeom>
            <a:solidFill>
              <a:srgbClr val="006783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Blue guide plate - body">
              <a:extLst>
                <a:ext uri="{FF2B5EF4-FFF2-40B4-BE49-F238E27FC236}">
                  <a16:creationId xmlns:a16="http://schemas.microsoft.com/office/drawing/2014/main" id="{D72CE026-2E30-535D-2A18-61FC4FF63FED}"/>
                </a:ext>
              </a:extLst>
            </p:cNvPr>
            <p:cNvSpPr/>
            <p:nvPr/>
          </p:nvSpPr>
          <p:spPr>
            <a:xfrm>
              <a:off x="0" y="-307340"/>
              <a:ext cx="111761" cy="614681"/>
            </a:xfrm>
            <a:custGeom>
              <a:avLst/>
              <a:gdLst/>
              <a:ahLst/>
              <a:cxnLst/>
              <a:rect l="0" t="0" r="0" b="0"/>
              <a:pathLst>
                <a:path w="111761" h="614681">
                  <a:moveTo>
                    <a:pt x="0" y="0"/>
                  </a:moveTo>
                  <a:lnTo>
                    <a:pt x="111760" y="0"/>
                  </a:lnTo>
                  <a:lnTo>
                    <a:pt x="111760" y="614680"/>
                  </a:lnTo>
                  <a:lnTo>
                    <a:pt x="0" y="6146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98BA7"/>
                </a:gs>
                <a:gs pos="100000">
                  <a:srgbClr val="006783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Blue guide plate - front rim">
              <a:extLst>
                <a:ext uri="{FF2B5EF4-FFF2-40B4-BE49-F238E27FC236}">
                  <a16:creationId xmlns:a16="http://schemas.microsoft.com/office/drawing/2014/main" id="{255B15EF-EF93-5A79-1A38-BF1308F348EC}"/>
                </a:ext>
              </a:extLst>
            </p:cNvPr>
            <p:cNvSpPr/>
            <p:nvPr/>
          </p:nvSpPr>
          <p:spPr>
            <a:xfrm>
              <a:off x="-116789" y="-307340"/>
              <a:ext cx="233578" cy="614680"/>
            </a:xfrm>
            <a:prstGeom prst="ellipse">
              <a:avLst/>
            </a:prstGeom>
            <a:solidFill>
              <a:srgbClr val="1696B3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Blue guide plate - inner wall">
              <a:extLst>
                <a:ext uri="{FF2B5EF4-FFF2-40B4-BE49-F238E27FC236}">
                  <a16:creationId xmlns:a16="http://schemas.microsoft.com/office/drawing/2014/main" id="{11C01460-95CC-5376-02FE-5998815564AC}"/>
                </a:ext>
              </a:extLst>
            </p:cNvPr>
            <p:cNvSpPr/>
            <p:nvPr/>
          </p:nvSpPr>
          <p:spPr>
            <a:xfrm>
              <a:off x="-84088" y="-233578"/>
              <a:ext cx="168176" cy="467156"/>
            </a:xfrm>
            <a:prstGeom prst="ellipse">
              <a:avLst/>
            </a:prstGeom>
            <a:gradFill flip="none" rotWithShape="1">
              <a:gsLst>
                <a:gs pos="0">
                  <a:srgbClr val="075069"/>
                </a:gs>
                <a:gs pos="100000">
                  <a:srgbClr val="073646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Blue guide plate - bore">
              <a:extLst>
                <a:ext uri="{FF2B5EF4-FFF2-40B4-BE49-F238E27FC236}">
                  <a16:creationId xmlns:a16="http://schemas.microsoft.com/office/drawing/2014/main" id="{CAF069F8-5DF9-2775-CFFD-43184438F829}"/>
                </a:ext>
              </a:extLst>
            </p:cNvPr>
            <p:cNvSpPr/>
            <p:nvPr/>
          </p:nvSpPr>
          <p:spPr>
            <a:xfrm>
              <a:off x="-40876" y="-162890"/>
              <a:ext cx="84088" cy="325780"/>
            </a:xfrm>
            <a:prstGeom prst="ellipse">
              <a:avLst/>
            </a:prstGeom>
            <a:solidFill>
              <a:srgbClr val="233439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Guide upper aperture">
            <a:extLst>
              <a:ext uri="{FF2B5EF4-FFF2-40B4-BE49-F238E27FC236}">
                <a16:creationId xmlns:a16="http://schemas.microsoft.com/office/drawing/2014/main" id="{6FBBC55E-0037-B573-CA2A-0B97EAE4870B}"/>
              </a:ext>
            </a:extLst>
          </p:cNvPr>
          <p:cNvSpPr/>
          <p:nvPr/>
        </p:nvSpPr>
        <p:spPr>
          <a:xfrm>
            <a:off x="5234940" y="3271520"/>
            <a:ext cx="58420" cy="81280"/>
          </a:xfrm>
          <a:prstGeom prst="ellipse">
            <a:avLst/>
          </a:prstGeom>
          <a:solidFill>
            <a:srgbClr val="163D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Guide lower aperture">
            <a:extLst>
              <a:ext uri="{FF2B5EF4-FFF2-40B4-BE49-F238E27FC236}">
                <a16:creationId xmlns:a16="http://schemas.microsoft.com/office/drawing/2014/main" id="{AEB33FD1-4057-B590-07C7-ADCF076F80CD}"/>
              </a:ext>
            </a:extLst>
          </p:cNvPr>
          <p:cNvSpPr/>
          <p:nvPr/>
        </p:nvSpPr>
        <p:spPr>
          <a:xfrm>
            <a:off x="5308600" y="3581400"/>
            <a:ext cx="50800" cy="76200"/>
          </a:xfrm>
          <a:prstGeom prst="ellipse">
            <a:avLst/>
          </a:prstGeom>
          <a:solidFill>
            <a:srgbClr val="103C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Main 3D printed fitting pipe">
            <a:extLst>
              <a:ext uri="{FF2B5EF4-FFF2-40B4-BE49-F238E27FC236}">
                <a16:creationId xmlns:a16="http://schemas.microsoft.com/office/drawing/2014/main" id="{CB95FEFE-EAD1-9E55-9A14-7827EFA15CE3}"/>
              </a:ext>
            </a:extLst>
          </p:cNvPr>
          <p:cNvGrpSpPr/>
          <p:nvPr/>
        </p:nvGrpSpPr>
        <p:grpSpPr>
          <a:xfrm rot="20910000">
            <a:off x="3434486" y="3282105"/>
            <a:ext cx="1643482" cy="782321"/>
            <a:chOff x="-148641" y="-391160"/>
            <a:chExt cx="1643482" cy="782321"/>
          </a:xfrm>
        </p:grpSpPr>
        <p:sp>
          <p:nvSpPr>
            <p:cNvPr id="26" name="Main 3D printed fitting pipe - rear cap">
              <a:extLst>
                <a:ext uri="{FF2B5EF4-FFF2-40B4-BE49-F238E27FC236}">
                  <a16:creationId xmlns:a16="http://schemas.microsoft.com/office/drawing/2014/main" id="{269DCF9E-17A1-F3C5-FDD6-F80DC5EAA0A5}"/>
                </a:ext>
              </a:extLst>
            </p:cNvPr>
            <p:cNvSpPr/>
            <p:nvPr/>
          </p:nvSpPr>
          <p:spPr>
            <a:xfrm>
              <a:off x="1197559" y="-391160"/>
              <a:ext cx="297282" cy="782320"/>
            </a:xfrm>
            <a:prstGeom prst="ellipse">
              <a:avLst/>
            </a:prstGeom>
            <a:solidFill>
              <a:srgbClr val="51565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Main 3D printed fitting pipe - body">
              <a:extLst>
                <a:ext uri="{FF2B5EF4-FFF2-40B4-BE49-F238E27FC236}">
                  <a16:creationId xmlns:a16="http://schemas.microsoft.com/office/drawing/2014/main" id="{147736C7-742B-6DBC-7E36-A904A88BE589}"/>
                </a:ext>
              </a:extLst>
            </p:cNvPr>
            <p:cNvSpPr/>
            <p:nvPr/>
          </p:nvSpPr>
          <p:spPr>
            <a:xfrm>
              <a:off x="0" y="-391160"/>
              <a:ext cx="1346201" cy="782321"/>
            </a:xfrm>
            <a:custGeom>
              <a:avLst/>
              <a:gdLst/>
              <a:ahLst/>
              <a:cxnLst/>
              <a:rect l="0" t="0" r="0" b="0"/>
              <a:pathLst>
                <a:path w="1346201" h="782321">
                  <a:moveTo>
                    <a:pt x="0" y="0"/>
                  </a:moveTo>
                  <a:lnTo>
                    <a:pt x="1346200" y="0"/>
                  </a:lnTo>
                  <a:lnTo>
                    <a:pt x="1346200" y="782320"/>
                  </a:lnTo>
                  <a:lnTo>
                    <a:pt x="0" y="78232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382"/>
                </a:gs>
                <a:gs pos="100000">
                  <a:srgbClr val="515655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Main 3D printed fitting pipe - front rim">
              <a:extLst>
                <a:ext uri="{FF2B5EF4-FFF2-40B4-BE49-F238E27FC236}">
                  <a16:creationId xmlns:a16="http://schemas.microsoft.com/office/drawing/2014/main" id="{D0A50E1C-B4F2-ADC3-3F8E-5D5188DE902F}"/>
                </a:ext>
              </a:extLst>
            </p:cNvPr>
            <p:cNvSpPr/>
            <p:nvPr/>
          </p:nvSpPr>
          <p:spPr>
            <a:xfrm>
              <a:off x="-148641" y="-391160"/>
              <a:ext cx="297282" cy="782320"/>
            </a:xfrm>
            <a:prstGeom prst="ellipse">
              <a:avLst/>
            </a:prstGeom>
            <a:solidFill>
              <a:srgbClr val="777E7D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Main 3D printed fitting pipe - inner wall">
              <a:extLst>
                <a:ext uri="{FF2B5EF4-FFF2-40B4-BE49-F238E27FC236}">
                  <a16:creationId xmlns:a16="http://schemas.microsoft.com/office/drawing/2014/main" id="{33E361D2-548E-7A84-32C8-7412A516D35B}"/>
                </a:ext>
              </a:extLst>
            </p:cNvPr>
            <p:cNvSpPr/>
            <p:nvPr/>
          </p:nvSpPr>
          <p:spPr>
            <a:xfrm>
              <a:off x="-107021" y="-297282"/>
              <a:ext cx="214042" cy="594564"/>
            </a:xfrm>
            <a:prstGeom prst="ellipse">
              <a:avLst/>
            </a:prstGeom>
            <a:gradFill flip="none" rotWithShape="1">
              <a:gsLst>
                <a:gs pos="0">
                  <a:srgbClr val="075069"/>
                </a:gs>
                <a:gs pos="100000">
                  <a:srgbClr val="073646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Main 3D printed fitting pipe - bore">
              <a:extLst>
                <a:ext uri="{FF2B5EF4-FFF2-40B4-BE49-F238E27FC236}">
                  <a16:creationId xmlns:a16="http://schemas.microsoft.com/office/drawing/2014/main" id="{E0825314-3D39-25A7-908B-42971FF8F345}"/>
                </a:ext>
              </a:extLst>
            </p:cNvPr>
            <p:cNvSpPr/>
            <p:nvPr/>
          </p:nvSpPr>
          <p:spPr>
            <a:xfrm>
              <a:off x="-52024" y="-207315"/>
              <a:ext cx="107021" cy="414630"/>
            </a:xfrm>
            <a:prstGeom prst="ellipse">
              <a:avLst/>
            </a:prstGeom>
            <a:solidFill>
              <a:srgbClr val="233439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Stainless steel ground collar">
            <a:extLst>
              <a:ext uri="{FF2B5EF4-FFF2-40B4-BE49-F238E27FC236}">
                <a16:creationId xmlns:a16="http://schemas.microsoft.com/office/drawing/2014/main" id="{DA6E0B64-B4CB-474A-253D-E6537A212C87}"/>
              </a:ext>
            </a:extLst>
          </p:cNvPr>
          <p:cNvGrpSpPr/>
          <p:nvPr/>
        </p:nvGrpSpPr>
        <p:grpSpPr>
          <a:xfrm rot="20910000">
            <a:off x="3395722" y="3506245"/>
            <a:ext cx="328880" cy="624841"/>
            <a:chOff x="-118720" y="-312420"/>
            <a:chExt cx="328880" cy="624841"/>
          </a:xfrm>
        </p:grpSpPr>
        <p:sp>
          <p:nvSpPr>
            <p:cNvPr id="32" name="Stainless steel ground collar - rear cap">
              <a:extLst>
                <a:ext uri="{FF2B5EF4-FFF2-40B4-BE49-F238E27FC236}">
                  <a16:creationId xmlns:a16="http://schemas.microsoft.com/office/drawing/2014/main" id="{A2C08CA1-EC9E-3FF7-9BA2-B337B89F3B03}"/>
                </a:ext>
              </a:extLst>
            </p:cNvPr>
            <p:cNvSpPr/>
            <p:nvPr/>
          </p:nvSpPr>
          <p:spPr>
            <a:xfrm>
              <a:off x="-27280" y="-312420"/>
              <a:ext cx="237440" cy="624840"/>
            </a:xfrm>
            <a:prstGeom prst="ellipse">
              <a:avLst/>
            </a:prstGeom>
            <a:solidFill>
              <a:srgbClr val="72797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Stainless steel ground collar - body">
              <a:extLst>
                <a:ext uri="{FF2B5EF4-FFF2-40B4-BE49-F238E27FC236}">
                  <a16:creationId xmlns:a16="http://schemas.microsoft.com/office/drawing/2014/main" id="{FB1B4037-F627-C84D-10E6-C55F5148A94B}"/>
                </a:ext>
              </a:extLst>
            </p:cNvPr>
            <p:cNvSpPr/>
            <p:nvPr/>
          </p:nvSpPr>
          <p:spPr>
            <a:xfrm>
              <a:off x="0" y="-312420"/>
              <a:ext cx="91441" cy="624841"/>
            </a:xfrm>
            <a:custGeom>
              <a:avLst/>
              <a:gdLst/>
              <a:ahLst/>
              <a:cxnLst/>
              <a:rect l="0" t="0" r="0" b="0"/>
              <a:pathLst>
                <a:path w="91441" h="624841">
                  <a:moveTo>
                    <a:pt x="0" y="0"/>
                  </a:moveTo>
                  <a:lnTo>
                    <a:pt x="91440" y="0"/>
                  </a:lnTo>
                  <a:lnTo>
                    <a:pt x="91440" y="624840"/>
                  </a:lnTo>
                  <a:lnTo>
                    <a:pt x="0" y="6248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2C5C3"/>
                </a:gs>
                <a:gs pos="100000">
                  <a:srgbClr val="727978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Stainless steel ground collar - front rim">
              <a:extLst>
                <a:ext uri="{FF2B5EF4-FFF2-40B4-BE49-F238E27FC236}">
                  <a16:creationId xmlns:a16="http://schemas.microsoft.com/office/drawing/2014/main" id="{FA644D48-F58A-3430-F1FC-04D3DF8402C1}"/>
                </a:ext>
              </a:extLst>
            </p:cNvPr>
            <p:cNvSpPr/>
            <p:nvPr/>
          </p:nvSpPr>
          <p:spPr>
            <a:xfrm>
              <a:off x="-118720" y="-312420"/>
              <a:ext cx="237440" cy="624840"/>
            </a:xfrm>
            <a:prstGeom prst="ellipse">
              <a:avLst/>
            </a:prstGeom>
            <a:solidFill>
              <a:srgbClr val="999D9D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Stainless steel ground collar - inner wall">
              <a:extLst>
                <a:ext uri="{FF2B5EF4-FFF2-40B4-BE49-F238E27FC236}">
                  <a16:creationId xmlns:a16="http://schemas.microsoft.com/office/drawing/2014/main" id="{2AD43095-0D4F-A40D-8ECB-7173B68C07EC}"/>
                </a:ext>
              </a:extLst>
            </p:cNvPr>
            <p:cNvSpPr/>
            <p:nvPr/>
          </p:nvSpPr>
          <p:spPr>
            <a:xfrm>
              <a:off x="-85478" y="-237439"/>
              <a:ext cx="170956" cy="474878"/>
            </a:xfrm>
            <a:prstGeom prst="ellipse">
              <a:avLst/>
            </a:prstGeom>
            <a:gradFill flip="none" rotWithShape="1">
              <a:gsLst>
                <a:gs pos="0">
                  <a:srgbClr val="292E2E"/>
                </a:gs>
                <a:gs pos="100000">
                  <a:srgbClr val="535858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Stainless steel ground collar - bore">
              <a:extLst>
                <a:ext uri="{FF2B5EF4-FFF2-40B4-BE49-F238E27FC236}">
                  <a16:creationId xmlns:a16="http://schemas.microsoft.com/office/drawing/2014/main" id="{EDA2726B-925A-02BB-AB0F-BF1EE6C6664B}"/>
                </a:ext>
              </a:extLst>
            </p:cNvPr>
            <p:cNvSpPr/>
            <p:nvPr/>
          </p:nvSpPr>
          <p:spPr>
            <a:xfrm>
              <a:off x="-41552" y="-165583"/>
              <a:ext cx="85478" cy="331166"/>
            </a:xfrm>
            <a:prstGeom prst="ellipse">
              <a:avLst/>
            </a:prstGeom>
            <a:solidFill>
              <a:srgbClr val="233439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Blue 3D printed spacer">
            <a:extLst>
              <a:ext uri="{FF2B5EF4-FFF2-40B4-BE49-F238E27FC236}">
                <a16:creationId xmlns:a16="http://schemas.microsoft.com/office/drawing/2014/main" id="{0EF646B4-71E5-4D22-C07B-523C4C94E18E}"/>
              </a:ext>
            </a:extLst>
          </p:cNvPr>
          <p:cNvGrpSpPr/>
          <p:nvPr/>
        </p:nvGrpSpPr>
        <p:grpSpPr>
          <a:xfrm rot="20910000">
            <a:off x="1748634" y="3620978"/>
            <a:ext cx="1715922" cy="665481"/>
            <a:chOff x="-126441" y="-332740"/>
            <a:chExt cx="1715922" cy="665481"/>
          </a:xfrm>
        </p:grpSpPr>
        <p:sp>
          <p:nvSpPr>
            <p:cNvPr id="38" name="Blue 3D printed spacer - rear cap">
              <a:extLst>
                <a:ext uri="{FF2B5EF4-FFF2-40B4-BE49-F238E27FC236}">
                  <a16:creationId xmlns:a16="http://schemas.microsoft.com/office/drawing/2014/main" id="{7BBFF167-2506-5567-2BF1-4D0B0CC8D5A5}"/>
                </a:ext>
              </a:extLst>
            </p:cNvPr>
            <p:cNvSpPr/>
            <p:nvPr/>
          </p:nvSpPr>
          <p:spPr>
            <a:xfrm>
              <a:off x="1336599" y="-332740"/>
              <a:ext cx="252882" cy="665480"/>
            </a:xfrm>
            <a:prstGeom prst="ellipse">
              <a:avLst/>
            </a:prstGeom>
            <a:solidFill>
              <a:srgbClr val="007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Blue 3D printed spacer - body">
              <a:extLst>
                <a:ext uri="{FF2B5EF4-FFF2-40B4-BE49-F238E27FC236}">
                  <a16:creationId xmlns:a16="http://schemas.microsoft.com/office/drawing/2014/main" id="{1AF084CE-9806-CF99-0E5E-122A56F3062A}"/>
                </a:ext>
              </a:extLst>
            </p:cNvPr>
            <p:cNvSpPr/>
            <p:nvPr/>
          </p:nvSpPr>
          <p:spPr>
            <a:xfrm>
              <a:off x="0" y="-332740"/>
              <a:ext cx="1463041" cy="665481"/>
            </a:xfrm>
            <a:custGeom>
              <a:avLst/>
              <a:gdLst/>
              <a:ahLst/>
              <a:cxnLst/>
              <a:rect l="0" t="0" r="0" b="0"/>
              <a:pathLst>
                <a:path w="1463041" h="665481">
                  <a:moveTo>
                    <a:pt x="0" y="0"/>
                  </a:moveTo>
                  <a:lnTo>
                    <a:pt x="1463040" y="0"/>
                  </a:lnTo>
                  <a:lnTo>
                    <a:pt x="1463040" y="665480"/>
                  </a:lnTo>
                  <a:lnTo>
                    <a:pt x="0" y="6654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68FAC"/>
                </a:gs>
                <a:gs pos="100000">
                  <a:srgbClr val="00718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Blue 3D printed spacer - front rim">
              <a:extLst>
                <a:ext uri="{FF2B5EF4-FFF2-40B4-BE49-F238E27FC236}">
                  <a16:creationId xmlns:a16="http://schemas.microsoft.com/office/drawing/2014/main" id="{978D4795-3859-8640-20AF-29E18FFCFFEA}"/>
                </a:ext>
              </a:extLst>
            </p:cNvPr>
            <p:cNvSpPr/>
            <p:nvPr/>
          </p:nvSpPr>
          <p:spPr>
            <a:xfrm>
              <a:off x="-126441" y="-332740"/>
              <a:ext cx="252882" cy="665480"/>
            </a:xfrm>
            <a:prstGeom prst="ellipse">
              <a:avLst/>
            </a:prstGeom>
            <a:solidFill>
              <a:srgbClr val="2CA7C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Blue 3D printed spacer - inner wall">
              <a:extLst>
                <a:ext uri="{FF2B5EF4-FFF2-40B4-BE49-F238E27FC236}">
                  <a16:creationId xmlns:a16="http://schemas.microsoft.com/office/drawing/2014/main" id="{EDCCC600-D627-324C-F756-C6F4131820AE}"/>
                </a:ext>
              </a:extLst>
            </p:cNvPr>
            <p:cNvSpPr/>
            <p:nvPr/>
          </p:nvSpPr>
          <p:spPr>
            <a:xfrm>
              <a:off x="-91038" y="-252882"/>
              <a:ext cx="182076" cy="505764"/>
            </a:xfrm>
            <a:prstGeom prst="ellipse">
              <a:avLst/>
            </a:prstGeom>
            <a:gradFill flip="none" rotWithShape="1">
              <a:gsLst>
                <a:gs pos="0">
                  <a:srgbClr val="075069"/>
                </a:gs>
                <a:gs pos="100000">
                  <a:srgbClr val="073646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Blue 3D printed spacer - bore">
              <a:extLst>
                <a:ext uri="{FF2B5EF4-FFF2-40B4-BE49-F238E27FC236}">
                  <a16:creationId xmlns:a16="http://schemas.microsoft.com/office/drawing/2014/main" id="{E698C296-9396-4807-375E-2F876934EFDA}"/>
                </a:ext>
              </a:extLst>
            </p:cNvPr>
            <p:cNvSpPr/>
            <p:nvPr/>
          </p:nvSpPr>
          <p:spPr>
            <a:xfrm>
              <a:off x="-44254" y="-176352"/>
              <a:ext cx="91037" cy="352704"/>
            </a:xfrm>
            <a:prstGeom prst="ellipse">
              <a:avLst/>
            </a:prstGeom>
            <a:solidFill>
              <a:srgbClr val="233439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4" name="Tungsten wire visible tip">
            <a:extLst>
              <a:ext uri="{FF2B5EF4-FFF2-40B4-BE49-F238E27FC236}">
                <a16:creationId xmlns:a16="http://schemas.microsoft.com/office/drawing/2014/main" id="{5B9F3C5A-A90B-FC5F-5609-45C8257C76DD}"/>
              </a:ext>
            </a:extLst>
          </p:cNvPr>
          <p:cNvCxnSpPr/>
          <p:nvPr/>
        </p:nvCxnSpPr>
        <p:spPr>
          <a:xfrm flipV="1">
            <a:off x="1574800" y="4109720"/>
            <a:ext cx="335280" cy="68580"/>
          </a:xfrm>
          <a:prstGeom prst="line">
            <a:avLst/>
          </a:prstGeom>
          <a:ln w="15240">
            <a:solidFill>
              <a:srgbClr val="A0A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Tungsten wire central core">
            <a:extLst>
              <a:ext uri="{FF2B5EF4-FFF2-40B4-BE49-F238E27FC236}">
                <a16:creationId xmlns:a16="http://schemas.microsoft.com/office/drawing/2014/main" id="{C0292159-4D00-ED4A-FBC3-EB87421239E5}"/>
              </a:ext>
            </a:extLst>
          </p:cNvPr>
          <p:cNvCxnSpPr/>
          <p:nvPr/>
        </p:nvCxnSpPr>
        <p:spPr>
          <a:xfrm flipV="1">
            <a:off x="1752600" y="4091940"/>
            <a:ext cx="228600" cy="48260"/>
          </a:xfrm>
          <a:prstGeom prst="line">
            <a:avLst/>
          </a:prstGeom>
          <a:ln w="15240">
            <a:solidFill>
              <a:srgbClr val="A8B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Upper collection electrode top">
            <a:extLst>
              <a:ext uri="{FF2B5EF4-FFF2-40B4-BE49-F238E27FC236}">
                <a16:creationId xmlns:a16="http://schemas.microsoft.com/office/drawing/2014/main" id="{E288BE7D-38CE-F126-481C-51AE73C285AE}"/>
              </a:ext>
            </a:extLst>
          </p:cNvPr>
          <p:cNvSpPr/>
          <p:nvPr/>
        </p:nvSpPr>
        <p:spPr>
          <a:xfrm>
            <a:off x="9982200" y="1879600"/>
            <a:ext cx="1981201" cy="721361"/>
          </a:xfrm>
          <a:custGeom>
            <a:avLst/>
            <a:gdLst/>
            <a:ahLst/>
            <a:cxnLst/>
            <a:rect l="0" t="0" r="0" b="0"/>
            <a:pathLst>
              <a:path w="1981201" h="721361">
                <a:moveTo>
                  <a:pt x="0" y="711200"/>
                </a:moveTo>
                <a:lnTo>
                  <a:pt x="1117600" y="0"/>
                </a:lnTo>
                <a:lnTo>
                  <a:pt x="1981200" y="292100"/>
                </a:lnTo>
                <a:lnTo>
                  <a:pt x="584200" y="721360"/>
                </a:lnTo>
                <a:close/>
              </a:path>
            </a:pathLst>
          </a:custGeom>
          <a:solidFill>
            <a:srgbClr val="B6BAB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Upper electrode edge">
            <a:extLst>
              <a:ext uri="{FF2B5EF4-FFF2-40B4-BE49-F238E27FC236}">
                <a16:creationId xmlns:a16="http://schemas.microsoft.com/office/drawing/2014/main" id="{F7B2EE41-8E64-A971-83E1-CAFF09D3AD52}"/>
              </a:ext>
            </a:extLst>
          </p:cNvPr>
          <p:cNvSpPr/>
          <p:nvPr/>
        </p:nvSpPr>
        <p:spPr>
          <a:xfrm>
            <a:off x="10566400" y="2171700"/>
            <a:ext cx="1397001" cy="520701"/>
          </a:xfrm>
          <a:custGeom>
            <a:avLst/>
            <a:gdLst/>
            <a:ahLst/>
            <a:cxnLst/>
            <a:rect l="0" t="0" r="0" b="0"/>
            <a:pathLst>
              <a:path w="1397001" h="520701">
                <a:moveTo>
                  <a:pt x="0" y="429260"/>
                </a:moveTo>
                <a:lnTo>
                  <a:pt x="1397000" y="0"/>
                </a:lnTo>
                <a:lnTo>
                  <a:pt x="1397000" y="88900"/>
                </a:lnTo>
                <a:lnTo>
                  <a:pt x="25400" y="520700"/>
                </a:lnTo>
                <a:close/>
              </a:path>
            </a:pathLst>
          </a:custGeom>
          <a:solidFill>
            <a:srgbClr val="878D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Upper electrode narrow rail">
            <a:extLst>
              <a:ext uri="{FF2B5EF4-FFF2-40B4-BE49-F238E27FC236}">
                <a16:creationId xmlns:a16="http://schemas.microsoft.com/office/drawing/2014/main" id="{51AEC87E-B904-1EA0-B240-D89C874DEA2A}"/>
              </a:ext>
            </a:extLst>
          </p:cNvPr>
          <p:cNvSpPr/>
          <p:nvPr/>
        </p:nvSpPr>
        <p:spPr>
          <a:xfrm>
            <a:off x="10058400" y="2260600"/>
            <a:ext cx="1397001" cy="482601"/>
          </a:xfrm>
          <a:custGeom>
            <a:avLst/>
            <a:gdLst/>
            <a:ahLst/>
            <a:cxnLst/>
            <a:rect l="0" t="0" r="0" b="0"/>
            <a:pathLst>
              <a:path w="1397001" h="482601">
                <a:moveTo>
                  <a:pt x="0" y="406400"/>
                </a:moveTo>
                <a:lnTo>
                  <a:pt x="1320800" y="0"/>
                </a:lnTo>
                <a:lnTo>
                  <a:pt x="1397000" y="50800"/>
                </a:lnTo>
                <a:lnTo>
                  <a:pt x="76200" y="482600"/>
                </a:lnTo>
                <a:close/>
              </a:path>
            </a:pathLst>
          </a:custGeom>
          <a:solidFill>
            <a:srgbClr val="D9DDD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Lower collection electrode top">
            <a:extLst>
              <a:ext uri="{FF2B5EF4-FFF2-40B4-BE49-F238E27FC236}">
                <a16:creationId xmlns:a16="http://schemas.microsoft.com/office/drawing/2014/main" id="{908258F9-B397-97A8-1583-4173F4EB2062}"/>
              </a:ext>
            </a:extLst>
          </p:cNvPr>
          <p:cNvSpPr/>
          <p:nvPr/>
        </p:nvSpPr>
        <p:spPr>
          <a:xfrm>
            <a:off x="10007600" y="2489200"/>
            <a:ext cx="2209801" cy="718821"/>
          </a:xfrm>
          <a:custGeom>
            <a:avLst/>
            <a:gdLst/>
            <a:ahLst/>
            <a:cxnLst/>
            <a:rect l="0" t="0" r="0" b="0"/>
            <a:pathLst>
              <a:path w="2209801" h="718821">
                <a:moveTo>
                  <a:pt x="0" y="457200"/>
                </a:moveTo>
                <a:lnTo>
                  <a:pt x="1727200" y="0"/>
                </a:lnTo>
                <a:lnTo>
                  <a:pt x="2209800" y="274320"/>
                </a:lnTo>
                <a:lnTo>
                  <a:pt x="635000" y="718820"/>
                </a:lnTo>
                <a:close/>
              </a:path>
            </a:pathLst>
          </a:custGeom>
          <a:solidFill>
            <a:srgbClr val="BABF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Lower electrode edge">
            <a:extLst>
              <a:ext uri="{FF2B5EF4-FFF2-40B4-BE49-F238E27FC236}">
                <a16:creationId xmlns:a16="http://schemas.microsoft.com/office/drawing/2014/main" id="{20BBC5FB-37A3-9E8A-3667-BDB8A6DB932D}"/>
              </a:ext>
            </a:extLst>
          </p:cNvPr>
          <p:cNvSpPr/>
          <p:nvPr/>
        </p:nvSpPr>
        <p:spPr>
          <a:xfrm>
            <a:off x="10642600" y="2763520"/>
            <a:ext cx="1574801" cy="513081"/>
          </a:xfrm>
          <a:custGeom>
            <a:avLst/>
            <a:gdLst/>
            <a:ahLst/>
            <a:cxnLst/>
            <a:rect l="0" t="0" r="0" b="0"/>
            <a:pathLst>
              <a:path w="1574801" h="513081">
                <a:moveTo>
                  <a:pt x="0" y="444500"/>
                </a:moveTo>
                <a:lnTo>
                  <a:pt x="1574800" y="0"/>
                </a:lnTo>
                <a:lnTo>
                  <a:pt x="1574800" y="55880"/>
                </a:lnTo>
                <a:lnTo>
                  <a:pt x="25400" y="513080"/>
                </a:lnTo>
                <a:close/>
              </a:path>
            </a:pathLst>
          </a:custGeom>
          <a:solidFill>
            <a:srgbClr val="8F96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Lower electrode inner cutout">
            <a:extLst>
              <a:ext uri="{FF2B5EF4-FFF2-40B4-BE49-F238E27FC236}">
                <a16:creationId xmlns:a16="http://schemas.microsoft.com/office/drawing/2014/main" id="{2273AD9B-729E-97C0-E61B-50B27410E507}"/>
              </a:ext>
            </a:extLst>
          </p:cNvPr>
          <p:cNvSpPr/>
          <p:nvPr/>
        </p:nvSpPr>
        <p:spPr>
          <a:xfrm>
            <a:off x="10134600" y="2585720"/>
            <a:ext cx="1803401" cy="487681"/>
          </a:xfrm>
          <a:custGeom>
            <a:avLst/>
            <a:gdLst/>
            <a:ahLst/>
            <a:cxnLst/>
            <a:rect l="0" t="0" r="0" b="0"/>
            <a:pathLst>
              <a:path w="1803401" h="487681">
                <a:moveTo>
                  <a:pt x="0" y="411480"/>
                </a:moveTo>
                <a:lnTo>
                  <a:pt x="1524000" y="0"/>
                </a:lnTo>
                <a:lnTo>
                  <a:pt x="1803400" y="106680"/>
                </a:lnTo>
                <a:lnTo>
                  <a:pt x="406400" y="48768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Electrode post 1">
            <a:extLst>
              <a:ext uri="{FF2B5EF4-FFF2-40B4-BE49-F238E27FC236}">
                <a16:creationId xmlns:a16="http://schemas.microsoft.com/office/drawing/2014/main" id="{F63FF348-BEB1-2B1C-F603-4408EF924D14}"/>
              </a:ext>
            </a:extLst>
          </p:cNvPr>
          <p:cNvCxnSpPr/>
          <p:nvPr/>
        </p:nvCxnSpPr>
        <p:spPr>
          <a:xfrm>
            <a:off x="11353800" y="1574800"/>
            <a:ext cx="0" cy="678180"/>
          </a:xfrm>
          <a:prstGeom prst="line">
            <a:avLst/>
          </a:prstGeom>
          <a:ln w="33020">
            <a:solidFill>
              <a:srgbClr val="9199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ectrode post 2">
            <a:extLst>
              <a:ext uri="{FF2B5EF4-FFF2-40B4-BE49-F238E27FC236}">
                <a16:creationId xmlns:a16="http://schemas.microsoft.com/office/drawing/2014/main" id="{B373E67A-C3C2-6FB2-567C-00E69B031861}"/>
              </a:ext>
            </a:extLst>
          </p:cNvPr>
          <p:cNvCxnSpPr/>
          <p:nvPr/>
        </p:nvCxnSpPr>
        <p:spPr>
          <a:xfrm>
            <a:off x="11455400" y="1605280"/>
            <a:ext cx="0" cy="668020"/>
          </a:xfrm>
          <a:prstGeom prst="line">
            <a:avLst/>
          </a:prstGeom>
          <a:ln w="31750">
            <a:solidFill>
              <a:srgbClr val="7C8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ectrode post 3">
            <a:extLst>
              <a:ext uri="{FF2B5EF4-FFF2-40B4-BE49-F238E27FC236}">
                <a16:creationId xmlns:a16="http://schemas.microsoft.com/office/drawing/2014/main" id="{C1AB72D8-9931-753B-008B-54E83BBD78AF}"/>
              </a:ext>
            </a:extLst>
          </p:cNvPr>
          <p:cNvCxnSpPr/>
          <p:nvPr/>
        </p:nvCxnSpPr>
        <p:spPr>
          <a:xfrm>
            <a:off x="12019280" y="2082800"/>
            <a:ext cx="0" cy="673100"/>
          </a:xfrm>
          <a:prstGeom prst="line">
            <a:avLst/>
          </a:prstGeom>
          <a:ln w="33020">
            <a:solidFill>
              <a:srgbClr val="9AA1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ectrode post 4">
            <a:extLst>
              <a:ext uri="{FF2B5EF4-FFF2-40B4-BE49-F238E27FC236}">
                <a16:creationId xmlns:a16="http://schemas.microsoft.com/office/drawing/2014/main" id="{A6257BB0-6FB0-70EA-253B-E34E919D1EBE}"/>
              </a:ext>
            </a:extLst>
          </p:cNvPr>
          <p:cNvCxnSpPr/>
          <p:nvPr/>
        </p:nvCxnSpPr>
        <p:spPr>
          <a:xfrm>
            <a:off x="12092940" y="2113280"/>
            <a:ext cx="0" cy="662940"/>
          </a:xfrm>
          <a:prstGeom prst="line">
            <a:avLst/>
          </a:prstGeom>
          <a:ln w="30480">
            <a:solidFill>
              <a:srgbClr val="7E87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Cassette rear tubular socket">
            <a:extLst>
              <a:ext uri="{FF2B5EF4-FFF2-40B4-BE49-F238E27FC236}">
                <a16:creationId xmlns:a16="http://schemas.microsoft.com/office/drawing/2014/main" id="{7F86471A-8D9F-5FE8-B052-32053A49B136}"/>
              </a:ext>
            </a:extLst>
          </p:cNvPr>
          <p:cNvGrpSpPr/>
          <p:nvPr/>
        </p:nvGrpSpPr>
        <p:grpSpPr>
          <a:xfrm rot="20640000">
            <a:off x="9809256" y="2650995"/>
            <a:ext cx="353060" cy="381001"/>
            <a:chOff x="-72390" y="-190500"/>
            <a:chExt cx="353060" cy="381001"/>
          </a:xfrm>
        </p:grpSpPr>
        <p:sp>
          <p:nvSpPr>
            <p:cNvPr id="56" name="Cassette rear tubular socket - rear cap">
              <a:extLst>
                <a:ext uri="{FF2B5EF4-FFF2-40B4-BE49-F238E27FC236}">
                  <a16:creationId xmlns:a16="http://schemas.microsoft.com/office/drawing/2014/main" id="{6855C9F7-F888-770F-BFAD-1A363D33B172}"/>
                </a:ext>
              </a:extLst>
            </p:cNvPr>
            <p:cNvSpPr/>
            <p:nvPr/>
          </p:nvSpPr>
          <p:spPr>
            <a:xfrm>
              <a:off x="135890" y="-190500"/>
              <a:ext cx="144780" cy="381000"/>
            </a:xfrm>
            <a:prstGeom prst="ellipse">
              <a:avLst/>
            </a:prstGeom>
            <a:solidFill>
              <a:srgbClr val="666C6A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Cassette rear tubular socket - body">
              <a:extLst>
                <a:ext uri="{FF2B5EF4-FFF2-40B4-BE49-F238E27FC236}">
                  <a16:creationId xmlns:a16="http://schemas.microsoft.com/office/drawing/2014/main" id="{4FB9556E-4E9E-1DDD-CED7-9C9F7696FC76}"/>
                </a:ext>
              </a:extLst>
            </p:cNvPr>
            <p:cNvSpPr/>
            <p:nvPr/>
          </p:nvSpPr>
          <p:spPr>
            <a:xfrm>
              <a:off x="0" y="-190500"/>
              <a:ext cx="208281" cy="381001"/>
            </a:xfrm>
            <a:custGeom>
              <a:avLst/>
              <a:gdLst/>
              <a:ahLst/>
              <a:cxnLst/>
              <a:rect l="0" t="0" r="0" b="0"/>
              <a:pathLst>
                <a:path w="208281" h="381001">
                  <a:moveTo>
                    <a:pt x="0" y="0"/>
                  </a:moveTo>
                  <a:lnTo>
                    <a:pt x="208280" y="0"/>
                  </a:lnTo>
                  <a:lnTo>
                    <a:pt x="208280" y="381000"/>
                  </a:lnTo>
                  <a:lnTo>
                    <a:pt x="0" y="381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A9D9B"/>
                </a:gs>
                <a:gs pos="100000">
                  <a:srgbClr val="666C6A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Cassette rear tubular socket - front rim">
              <a:extLst>
                <a:ext uri="{FF2B5EF4-FFF2-40B4-BE49-F238E27FC236}">
                  <a16:creationId xmlns:a16="http://schemas.microsoft.com/office/drawing/2014/main" id="{15566B77-8B99-DBC4-284A-5B6AE6F75C64}"/>
                </a:ext>
              </a:extLst>
            </p:cNvPr>
            <p:cNvSpPr/>
            <p:nvPr/>
          </p:nvSpPr>
          <p:spPr>
            <a:xfrm>
              <a:off x="-72390" y="-190500"/>
              <a:ext cx="144780" cy="381000"/>
            </a:xfrm>
            <a:prstGeom prst="ellipse">
              <a:avLst/>
            </a:prstGeom>
            <a:solidFill>
              <a:srgbClr val="71787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Cassette left wall">
            <a:extLst>
              <a:ext uri="{FF2B5EF4-FFF2-40B4-BE49-F238E27FC236}">
                <a16:creationId xmlns:a16="http://schemas.microsoft.com/office/drawing/2014/main" id="{3D2E1FF3-65C9-57AD-E5C6-397449C09644}"/>
              </a:ext>
            </a:extLst>
          </p:cNvPr>
          <p:cNvSpPr/>
          <p:nvPr/>
        </p:nvSpPr>
        <p:spPr>
          <a:xfrm>
            <a:off x="7340600" y="2903220"/>
            <a:ext cx="876301" cy="1165861"/>
          </a:xfrm>
          <a:custGeom>
            <a:avLst/>
            <a:gdLst/>
            <a:ahLst/>
            <a:cxnLst/>
            <a:rect l="0" t="0" r="0" b="0"/>
            <a:pathLst>
              <a:path w="876301" h="1165861">
                <a:moveTo>
                  <a:pt x="0" y="0"/>
                </a:moveTo>
                <a:lnTo>
                  <a:pt x="876300" y="424180"/>
                </a:lnTo>
                <a:lnTo>
                  <a:pt x="876300" y="1165860"/>
                </a:lnTo>
                <a:lnTo>
                  <a:pt x="0" y="744220"/>
                </a:lnTo>
                <a:close/>
              </a:path>
            </a:pathLst>
          </a:custGeom>
          <a:solidFill>
            <a:srgbClr val="777C7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Cassette front wall">
            <a:extLst>
              <a:ext uri="{FF2B5EF4-FFF2-40B4-BE49-F238E27FC236}">
                <a16:creationId xmlns:a16="http://schemas.microsoft.com/office/drawing/2014/main" id="{A12836BF-580C-F5D7-C029-BDE5F0293458}"/>
              </a:ext>
            </a:extLst>
          </p:cNvPr>
          <p:cNvSpPr/>
          <p:nvPr/>
        </p:nvSpPr>
        <p:spPr>
          <a:xfrm>
            <a:off x="8216900" y="2794000"/>
            <a:ext cx="1922781" cy="1275081"/>
          </a:xfrm>
          <a:custGeom>
            <a:avLst/>
            <a:gdLst/>
            <a:ahLst/>
            <a:cxnLst/>
            <a:rect l="0" t="0" r="0" b="0"/>
            <a:pathLst>
              <a:path w="1922781" h="1275081">
                <a:moveTo>
                  <a:pt x="0" y="533400"/>
                </a:moveTo>
                <a:lnTo>
                  <a:pt x="1922780" y="0"/>
                </a:lnTo>
                <a:lnTo>
                  <a:pt x="1922780" y="751840"/>
                </a:lnTo>
                <a:lnTo>
                  <a:pt x="0" y="1275080"/>
                </a:lnTo>
                <a:close/>
              </a:path>
            </a:pathLst>
          </a:custGeom>
          <a:gradFill flip="none" rotWithShape="1">
            <a:gsLst>
              <a:gs pos="0">
                <a:srgbClr val="7A7E7B"/>
              </a:gs>
              <a:gs pos="100000">
                <a:srgbClr val="585F5B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Cassette lid">
            <a:extLst>
              <a:ext uri="{FF2B5EF4-FFF2-40B4-BE49-F238E27FC236}">
                <a16:creationId xmlns:a16="http://schemas.microsoft.com/office/drawing/2014/main" id="{522886D0-7A8F-473E-E824-EB7B824A9E28}"/>
              </a:ext>
            </a:extLst>
          </p:cNvPr>
          <p:cNvSpPr/>
          <p:nvPr/>
        </p:nvSpPr>
        <p:spPr>
          <a:xfrm>
            <a:off x="7340600" y="2367280"/>
            <a:ext cx="2799081" cy="960121"/>
          </a:xfrm>
          <a:custGeom>
            <a:avLst/>
            <a:gdLst/>
            <a:ahLst/>
            <a:cxnLst/>
            <a:rect l="0" t="0" r="0" b="0"/>
            <a:pathLst>
              <a:path w="2799081" h="960121">
                <a:moveTo>
                  <a:pt x="0" y="535940"/>
                </a:moveTo>
                <a:lnTo>
                  <a:pt x="1973580" y="0"/>
                </a:lnTo>
                <a:lnTo>
                  <a:pt x="2799080" y="426720"/>
                </a:lnTo>
                <a:lnTo>
                  <a:pt x="876300" y="960120"/>
                </a:lnTo>
                <a:close/>
              </a:path>
            </a:pathLst>
          </a:custGeom>
          <a:solidFill>
            <a:srgbClr val="8B8F8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Cassette upper stepped edge">
            <a:extLst>
              <a:ext uri="{FF2B5EF4-FFF2-40B4-BE49-F238E27FC236}">
                <a16:creationId xmlns:a16="http://schemas.microsoft.com/office/drawing/2014/main" id="{6F99110B-49FD-FEF0-C868-AC91169B270C}"/>
              </a:ext>
            </a:extLst>
          </p:cNvPr>
          <p:cNvSpPr/>
          <p:nvPr/>
        </p:nvSpPr>
        <p:spPr>
          <a:xfrm>
            <a:off x="8930640" y="2339340"/>
            <a:ext cx="419101" cy="200661"/>
          </a:xfrm>
          <a:custGeom>
            <a:avLst/>
            <a:gdLst/>
            <a:ahLst/>
            <a:cxnLst/>
            <a:rect l="0" t="0" r="0" b="0"/>
            <a:pathLst>
              <a:path w="419101" h="200661">
                <a:moveTo>
                  <a:pt x="0" y="106680"/>
                </a:moveTo>
                <a:lnTo>
                  <a:pt x="340360" y="0"/>
                </a:lnTo>
                <a:lnTo>
                  <a:pt x="419100" y="40640"/>
                </a:lnTo>
                <a:lnTo>
                  <a:pt x="406400" y="152400"/>
                </a:lnTo>
                <a:lnTo>
                  <a:pt x="233680" y="200660"/>
                </a:lnTo>
                <a:close/>
              </a:path>
            </a:pathLst>
          </a:custGeom>
          <a:solidFill>
            <a:srgbClr val="777D7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Cassette top right notch">
            <a:extLst>
              <a:ext uri="{FF2B5EF4-FFF2-40B4-BE49-F238E27FC236}">
                <a16:creationId xmlns:a16="http://schemas.microsoft.com/office/drawing/2014/main" id="{F1C9E35C-F75B-96D8-A2D3-D9FA203F235D}"/>
              </a:ext>
            </a:extLst>
          </p:cNvPr>
          <p:cNvSpPr/>
          <p:nvPr/>
        </p:nvSpPr>
        <p:spPr>
          <a:xfrm>
            <a:off x="9710420" y="2674620"/>
            <a:ext cx="419101" cy="284481"/>
          </a:xfrm>
          <a:custGeom>
            <a:avLst/>
            <a:gdLst/>
            <a:ahLst/>
            <a:cxnLst/>
            <a:rect l="0" t="0" r="0" b="0"/>
            <a:pathLst>
              <a:path w="419101" h="284481">
                <a:moveTo>
                  <a:pt x="0" y="68580"/>
                </a:moveTo>
                <a:lnTo>
                  <a:pt x="256540" y="0"/>
                </a:lnTo>
                <a:lnTo>
                  <a:pt x="419100" y="93980"/>
                </a:lnTo>
                <a:lnTo>
                  <a:pt x="414020" y="220980"/>
                </a:lnTo>
                <a:lnTo>
                  <a:pt x="205740" y="284480"/>
                </a:lnTo>
                <a:lnTo>
                  <a:pt x="30480" y="190500"/>
                </a:lnTo>
                <a:close/>
              </a:path>
            </a:pathLst>
          </a:custGeom>
          <a:solidFill>
            <a:srgbClr val="72787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Cassette lower front ledge">
            <a:extLst>
              <a:ext uri="{FF2B5EF4-FFF2-40B4-BE49-F238E27FC236}">
                <a16:creationId xmlns:a16="http://schemas.microsoft.com/office/drawing/2014/main" id="{B39583B7-E2BD-D44D-B20E-F1955B020239}"/>
              </a:ext>
            </a:extLst>
          </p:cNvPr>
          <p:cNvSpPr/>
          <p:nvPr/>
        </p:nvSpPr>
        <p:spPr>
          <a:xfrm>
            <a:off x="8255000" y="3289300"/>
            <a:ext cx="1879601" cy="774701"/>
          </a:xfrm>
          <a:custGeom>
            <a:avLst/>
            <a:gdLst/>
            <a:ahLst/>
            <a:cxnLst/>
            <a:rect l="0" t="0" r="0" b="0"/>
            <a:pathLst>
              <a:path w="1879601" h="774701">
                <a:moveTo>
                  <a:pt x="0" y="508000"/>
                </a:moveTo>
                <a:lnTo>
                  <a:pt x="1879600" y="0"/>
                </a:lnTo>
                <a:lnTo>
                  <a:pt x="1879600" y="261620"/>
                </a:lnTo>
                <a:lnTo>
                  <a:pt x="0" y="774700"/>
                </a:lnTo>
                <a:close/>
              </a:path>
            </a:pathLst>
          </a:custGeom>
          <a:solidFill>
            <a:srgbClr val="62696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Cassette plate insertion slot">
            <a:extLst>
              <a:ext uri="{FF2B5EF4-FFF2-40B4-BE49-F238E27FC236}">
                <a16:creationId xmlns:a16="http://schemas.microsoft.com/office/drawing/2014/main" id="{F3F04264-8030-55DB-8BAB-EFB87A51279B}"/>
              </a:ext>
            </a:extLst>
          </p:cNvPr>
          <p:cNvSpPr/>
          <p:nvPr/>
        </p:nvSpPr>
        <p:spPr>
          <a:xfrm>
            <a:off x="8491220" y="3271520"/>
            <a:ext cx="1529081" cy="579121"/>
          </a:xfrm>
          <a:custGeom>
            <a:avLst/>
            <a:gdLst/>
            <a:ahLst/>
            <a:cxnLst/>
            <a:rect l="0" t="0" r="0" b="0"/>
            <a:pathLst>
              <a:path w="1529081" h="579121">
                <a:moveTo>
                  <a:pt x="0" y="419100"/>
                </a:moveTo>
                <a:lnTo>
                  <a:pt x="1529080" y="0"/>
                </a:lnTo>
                <a:lnTo>
                  <a:pt x="1529080" y="160020"/>
                </a:lnTo>
                <a:lnTo>
                  <a:pt x="0" y="579120"/>
                </a:lnTo>
                <a:close/>
              </a:path>
            </a:pathLst>
          </a:custGeom>
          <a:solidFill>
            <a:srgbClr val="292F2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Cassette slot lip">
            <a:extLst>
              <a:ext uri="{FF2B5EF4-FFF2-40B4-BE49-F238E27FC236}">
                <a16:creationId xmlns:a16="http://schemas.microsoft.com/office/drawing/2014/main" id="{24E6C50D-67AC-173B-CAAA-8F536B0B617B}"/>
              </a:ext>
            </a:extLst>
          </p:cNvPr>
          <p:cNvCxnSpPr/>
          <p:nvPr/>
        </p:nvCxnSpPr>
        <p:spPr>
          <a:xfrm flipV="1">
            <a:off x="8509000" y="3444240"/>
            <a:ext cx="1524000" cy="416560"/>
          </a:xfrm>
          <a:prstGeom prst="line">
            <a:avLst/>
          </a:prstGeom>
          <a:ln w="11430">
            <a:solidFill>
              <a:srgbClr val="929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Lid long recess">
            <a:extLst>
              <a:ext uri="{FF2B5EF4-FFF2-40B4-BE49-F238E27FC236}">
                <a16:creationId xmlns:a16="http://schemas.microsoft.com/office/drawing/2014/main" id="{D43FFE43-8B25-A395-EA04-0059EC3D0214}"/>
              </a:ext>
            </a:extLst>
          </p:cNvPr>
          <p:cNvSpPr/>
          <p:nvPr/>
        </p:nvSpPr>
        <p:spPr>
          <a:xfrm>
            <a:off x="8013700" y="2763520"/>
            <a:ext cx="1442721" cy="424181"/>
          </a:xfrm>
          <a:custGeom>
            <a:avLst/>
            <a:gdLst/>
            <a:ahLst/>
            <a:cxnLst/>
            <a:rect l="0" t="0" r="0" b="0"/>
            <a:pathLst>
              <a:path w="1442721" h="424181">
                <a:moveTo>
                  <a:pt x="0" y="368300"/>
                </a:moveTo>
                <a:lnTo>
                  <a:pt x="1353820" y="0"/>
                </a:lnTo>
                <a:lnTo>
                  <a:pt x="1442720" y="48260"/>
                </a:lnTo>
                <a:lnTo>
                  <a:pt x="96520" y="424180"/>
                </a:lnTo>
                <a:close/>
              </a:path>
            </a:pathLst>
          </a:custGeom>
          <a:solidFill>
            <a:srgbClr val="474E4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Lid vent rib 0">
            <a:extLst>
              <a:ext uri="{FF2B5EF4-FFF2-40B4-BE49-F238E27FC236}">
                <a16:creationId xmlns:a16="http://schemas.microsoft.com/office/drawing/2014/main" id="{BC8EF36F-0B1E-F042-86CD-BA25B7CE3BC9}"/>
              </a:ext>
            </a:extLst>
          </p:cNvPr>
          <p:cNvCxnSpPr/>
          <p:nvPr/>
        </p:nvCxnSpPr>
        <p:spPr>
          <a:xfrm>
            <a:off x="8056880" y="3129280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d vent rib 1">
            <a:extLst>
              <a:ext uri="{FF2B5EF4-FFF2-40B4-BE49-F238E27FC236}">
                <a16:creationId xmlns:a16="http://schemas.microsoft.com/office/drawing/2014/main" id="{F2B03177-03C3-0886-1595-18B70B255E88}"/>
              </a:ext>
            </a:extLst>
          </p:cNvPr>
          <p:cNvCxnSpPr/>
          <p:nvPr/>
        </p:nvCxnSpPr>
        <p:spPr>
          <a:xfrm>
            <a:off x="8121396" y="3111703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id vent rib 2">
            <a:extLst>
              <a:ext uri="{FF2B5EF4-FFF2-40B4-BE49-F238E27FC236}">
                <a16:creationId xmlns:a16="http://schemas.microsoft.com/office/drawing/2014/main" id="{4FA9DBB1-C5C3-614C-AA7C-9BF8B7978CE1}"/>
              </a:ext>
            </a:extLst>
          </p:cNvPr>
          <p:cNvCxnSpPr/>
          <p:nvPr/>
        </p:nvCxnSpPr>
        <p:spPr>
          <a:xfrm>
            <a:off x="8185912" y="3094126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d vent rib 3">
            <a:extLst>
              <a:ext uri="{FF2B5EF4-FFF2-40B4-BE49-F238E27FC236}">
                <a16:creationId xmlns:a16="http://schemas.microsoft.com/office/drawing/2014/main" id="{69EC2720-94CA-BFBC-5053-9A75F564A2D6}"/>
              </a:ext>
            </a:extLst>
          </p:cNvPr>
          <p:cNvCxnSpPr/>
          <p:nvPr/>
        </p:nvCxnSpPr>
        <p:spPr>
          <a:xfrm>
            <a:off x="8250428" y="3076550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id vent rib 4">
            <a:extLst>
              <a:ext uri="{FF2B5EF4-FFF2-40B4-BE49-F238E27FC236}">
                <a16:creationId xmlns:a16="http://schemas.microsoft.com/office/drawing/2014/main" id="{FB5127F2-1B9A-952A-2505-D219DD8E7230}"/>
              </a:ext>
            </a:extLst>
          </p:cNvPr>
          <p:cNvCxnSpPr/>
          <p:nvPr/>
        </p:nvCxnSpPr>
        <p:spPr>
          <a:xfrm>
            <a:off x="8314944" y="3058973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id vent rib 5">
            <a:extLst>
              <a:ext uri="{FF2B5EF4-FFF2-40B4-BE49-F238E27FC236}">
                <a16:creationId xmlns:a16="http://schemas.microsoft.com/office/drawing/2014/main" id="{B09674CB-FC25-B0F1-CA7E-42623DFA67B1}"/>
              </a:ext>
            </a:extLst>
          </p:cNvPr>
          <p:cNvCxnSpPr/>
          <p:nvPr/>
        </p:nvCxnSpPr>
        <p:spPr>
          <a:xfrm>
            <a:off x="8379460" y="3041396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id vent rib 6">
            <a:extLst>
              <a:ext uri="{FF2B5EF4-FFF2-40B4-BE49-F238E27FC236}">
                <a16:creationId xmlns:a16="http://schemas.microsoft.com/office/drawing/2014/main" id="{6C5CBB5A-35E4-F413-0612-344D37736B31}"/>
              </a:ext>
            </a:extLst>
          </p:cNvPr>
          <p:cNvCxnSpPr/>
          <p:nvPr/>
        </p:nvCxnSpPr>
        <p:spPr>
          <a:xfrm>
            <a:off x="8443976" y="3023819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id vent rib 7">
            <a:extLst>
              <a:ext uri="{FF2B5EF4-FFF2-40B4-BE49-F238E27FC236}">
                <a16:creationId xmlns:a16="http://schemas.microsoft.com/office/drawing/2014/main" id="{886FE371-0250-A9A8-C856-54DF1683E792}"/>
              </a:ext>
            </a:extLst>
          </p:cNvPr>
          <p:cNvCxnSpPr/>
          <p:nvPr/>
        </p:nvCxnSpPr>
        <p:spPr>
          <a:xfrm>
            <a:off x="8508492" y="3006242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id vent rib 8">
            <a:extLst>
              <a:ext uri="{FF2B5EF4-FFF2-40B4-BE49-F238E27FC236}">
                <a16:creationId xmlns:a16="http://schemas.microsoft.com/office/drawing/2014/main" id="{B67075FA-FD35-AFF5-3617-97EDF22C9E00}"/>
              </a:ext>
            </a:extLst>
          </p:cNvPr>
          <p:cNvCxnSpPr/>
          <p:nvPr/>
        </p:nvCxnSpPr>
        <p:spPr>
          <a:xfrm>
            <a:off x="8573008" y="2988666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id vent rib 9">
            <a:extLst>
              <a:ext uri="{FF2B5EF4-FFF2-40B4-BE49-F238E27FC236}">
                <a16:creationId xmlns:a16="http://schemas.microsoft.com/office/drawing/2014/main" id="{21D5838B-7A1D-6B8A-8917-19C487E4B47C}"/>
              </a:ext>
            </a:extLst>
          </p:cNvPr>
          <p:cNvCxnSpPr/>
          <p:nvPr/>
        </p:nvCxnSpPr>
        <p:spPr>
          <a:xfrm>
            <a:off x="8637524" y="2971089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id vent rib 10">
            <a:extLst>
              <a:ext uri="{FF2B5EF4-FFF2-40B4-BE49-F238E27FC236}">
                <a16:creationId xmlns:a16="http://schemas.microsoft.com/office/drawing/2014/main" id="{472368E1-6E90-7932-8C51-AC38AD4C3C22}"/>
              </a:ext>
            </a:extLst>
          </p:cNvPr>
          <p:cNvCxnSpPr/>
          <p:nvPr/>
        </p:nvCxnSpPr>
        <p:spPr>
          <a:xfrm>
            <a:off x="8702040" y="2953512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id vent rib 11">
            <a:extLst>
              <a:ext uri="{FF2B5EF4-FFF2-40B4-BE49-F238E27FC236}">
                <a16:creationId xmlns:a16="http://schemas.microsoft.com/office/drawing/2014/main" id="{86B972D3-A611-6DBB-E15F-A164D2B79A18}"/>
              </a:ext>
            </a:extLst>
          </p:cNvPr>
          <p:cNvCxnSpPr/>
          <p:nvPr/>
        </p:nvCxnSpPr>
        <p:spPr>
          <a:xfrm>
            <a:off x="8766556" y="2935935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id vent rib 12">
            <a:extLst>
              <a:ext uri="{FF2B5EF4-FFF2-40B4-BE49-F238E27FC236}">
                <a16:creationId xmlns:a16="http://schemas.microsoft.com/office/drawing/2014/main" id="{75C3AC16-E2E5-CC15-5B11-68E827CDA33E}"/>
              </a:ext>
            </a:extLst>
          </p:cNvPr>
          <p:cNvCxnSpPr/>
          <p:nvPr/>
        </p:nvCxnSpPr>
        <p:spPr>
          <a:xfrm>
            <a:off x="8831072" y="2918358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id vent rib 13">
            <a:extLst>
              <a:ext uri="{FF2B5EF4-FFF2-40B4-BE49-F238E27FC236}">
                <a16:creationId xmlns:a16="http://schemas.microsoft.com/office/drawing/2014/main" id="{BF690F4F-4760-CDD5-2396-7451630E3A39}"/>
              </a:ext>
            </a:extLst>
          </p:cNvPr>
          <p:cNvCxnSpPr/>
          <p:nvPr/>
        </p:nvCxnSpPr>
        <p:spPr>
          <a:xfrm>
            <a:off x="8895588" y="2900782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id vent rib 14">
            <a:extLst>
              <a:ext uri="{FF2B5EF4-FFF2-40B4-BE49-F238E27FC236}">
                <a16:creationId xmlns:a16="http://schemas.microsoft.com/office/drawing/2014/main" id="{19688A28-6FA4-3CA8-DE83-3E09F6A02330}"/>
              </a:ext>
            </a:extLst>
          </p:cNvPr>
          <p:cNvCxnSpPr/>
          <p:nvPr/>
        </p:nvCxnSpPr>
        <p:spPr>
          <a:xfrm>
            <a:off x="8960104" y="2883205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id vent rib 15">
            <a:extLst>
              <a:ext uri="{FF2B5EF4-FFF2-40B4-BE49-F238E27FC236}">
                <a16:creationId xmlns:a16="http://schemas.microsoft.com/office/drawing/2014/main" id="{02AD0C09-F526-5BE6-A4CA-0F5D50203164}"/>
              </a:ext>
            </a:extLst>
          </p:cNvPr>
          <p:cNvCxnSpPr/>
          <p:nvPr/>
        </p:nvCxnSpPr>
        <p:spPr>
          <a:xfrm>
            <a:off x="9024620" y="2865628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id vent rib 16">
            <a:extLst>
              <a:ext uri="{FF2B5EF4-FFF2-40B4-BE49-F238E27FC236}">
                <a16:creationId xmlns:a16="http://schemas.microsoft.com/office/drawing/2014/main" id="{0375B6E9-541C-9048-2670-B62BF4C70B55}"/>
              </a:ext>
            </a:extLst>
          </p:cNvPr>
          <p:cNvCxnSpPr/>
          <p:nvPr/>
        </p:nvCxnSpPr>
        <p:spPr>
          <a:xfrm>
            <a:off x="9089136" y="2848051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Lid vent rib 17">
            <a:extLst>
              <a:ext uri="{FF2B5EF4-FFF2-40B4-BE49-F238E27FC236}">
                <a16:creationId xmlns:a16="http://schemas.microsoft.com/office/drawing/2014/main" id="{E490C38A-8052-B724-435A-0B3E5E49FADA}"/>
              </a:ext>
            </a:extLst>
          </p:cNvPr>
          <p:cNvCxnSpPr/>
          <p:nvPr/>
        </p:nvCxnSpPr>
        <p:spPr>
          <a:xfrm>
            <a:off x="9153652" y="2830474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Lid vent rib 18">
            <a:extLst>
              <a:ext uri="{FF2B5EF4-FFF2-40B4-BE49-F238E27FC236}">
                <a16:creationId xmlns:a16="http://schemas.microsoft.com/office/drawing/2014/main" id="{654E56FE-0A92-75B3-FABC-D2B62E2D979C}"/>
              </a:ext>
            </a:extLst>
          </p:cNvPr>
          <p:cNvCxnSpPr/>
          <p:nvPr/>
        </p:nvCxnSpPr>
        <p:spPr>
          <a:xfrm>
            <a:off x="9218168" y="2812898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id vent rib 19">
            <a:extLst>
              <a:ext uri="{FF2B5EF4-FFF2-40B4-BE49-F238E27FC236}">
                <a16:creationId xmlns:a16="http://schemas.microsoft.com/office/drawing/2014/main" id="{106B566A-52E4-C48F-3BE0-5CA6550FF9B8}"/>
              </a:ext>
            </a:extLst>
          </p:cNvPr>
          <p:cNvCxnSpPr/>
          <p:nvPr/>
        </p:nvCxnSpPr>
        <p:spPr>
          <a:xfrm>
            <a:off x="9282684" y="2795321"/>
            <a:ext cx="40640" cy="24130"/>
          </a:xfrm>
          <a:prstGeom prst="line">
            <a:avLst/>
          </a:prstGeom>
          <a:ln w="10668">
            <a:solidFill>
              <a:srgbClr val="8188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Cassette inlet tube">
            <a:extLst>
              <a:ext uri="{FF2B5EF4-FFF2-40B4-BE49-F238E27FC236}">
                <a16:creationId xmlns:a16="http://schemas.microsoft.com/office/drawing/2014/main" id="{8198ACAE-1049-9ED0-4FBD-C22DC4C6A9BA}"/>
              </a:ext>
            </a:extLst>
          </p:cNvPr>
          <p:cNvGrpSpPr/>
          <p:nvPr/>
        </p:nvGrpSpPr>
        <p:grpSpPr>
          <a:xfrm rot="20700000">
            <a:off x="7367026" y="3309620"/>
            <a:ext cx="557276" cy="330201"/>
            <a:chOff x="-62738" y="-165100"/>
            <a:chExt cx="557276" cy="330201"/>
          </a:xfrm>
        </p:grpSpPr>
        <p:sp>
          <p:nvSpPr>
            <p:cNvPr id="89" name="Cassette inlet tube - rear cap">
              <a:extLst>
                <a:ext uri="{FF2B5EF4-FFF2-40B4-BE49-F238E27FC236}">
                  <a16:creationId xmlns:a16="http://schemas.microsoft.com/office/drawing/2014/main" id="{EDF9E6B6-9FA1-F71C-7135-DF33E6475C78}"/>
                </a:ext>
              </a:extLst>
            </p:cNvPr>
            <p:cNvSpPr/>
            <p:nvPr/>
          </p:nvSpPr>
          <p:spPr>
            <a:xfrm>
              <a:off x="369062" y="-165100"/>
              <a:ext cx="125476" cy="330200"/>
            </a:xfrm>
            <a:prstGeom prst="ellipse">
              <a:avLst/>
            </a:prstGeom>
            <a:solidFill>
              <a:srgbClr val="606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Cassette inlet tube - body">
              <a:extLst>
                <a:ext uri="{FF2B5EF4-FFF2-40B4-BE49-F238E27FC236}">
                  <a16:creationId xmlns:a16="http://schemas.microsoft.com/office/drawing/2014/main" id="{352156D3-B580-A89E-5CC0-41E61D7D54F0}"/>
                </a:ext>
              </a:extLst>
            </p:cNvPr>
            <p:cNvSpPr/>
            <p:nvPr/>
          </p:nvSpPr>
          <p:spPr>
            <a:xfrm>
              <a:off x="0" y="-165100"/>
              <a:ext cx="431801" cy="330201"/>
            </a:xfrm>
            <a:custGeom>
              <a:avLst/>
              <a:gdLst/>
              <a:ahLst/>
              <a:cxnLst/>
              <a:rect l="0" t="0" r="0" b="0"/>
              <a:pathLst>
                <a:path w="431801" h="330201">
                  <a:moveTo>
                    <a:pt x="0" y="0"/>
                  </a:moveTo>
                  <a:lnTo>
                    <a:pt x="431800" y="0"/>
                  </a:lnTo>
                  <a:lnTo>
                    <a:pt x="431800" y="330200"/>
                  </a:lnTo>
                  <a:lnTo>
                    <a:pt x="0" y="33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9794"/>
                </a:gs>
                <a:gs pos="100000">
                  <a:srgbClr val="606864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Cassette inlet tube - front rim">
              <a:extLst>
                <a:ext uri="{FF2B5EF4-FFF2-40B4-BE49-F238E27FC236}">
                  <a16:creationId xmlns:a16="http://schemas.microsoft.com/office/drawing/2014/main" id="{A1667ECE-B1C9-3BE7-2403-1B508A088AF4}"/>
                </a:ext>
              </a:extLst>
            </p:cNvPr>
            <p:cNvSpPr/>
            <p:nvPr/>
          </p:nvSpPr>
          <p:spPr>
            <a:xfrm>
              <a:off x="-62738" y="-165100"/>
              <a:ext cx="125476" cy="330200"/>
            </a:xfrm>
            <a:prstGeom prst="ellipse">
              <a:avLst/>
            </a:prstGeom>
            <a:solidFill>
              <a:srgbClr val="939C97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Cassette inlet tube - inner wall">
              <a:extLst>
                <a:ext uri="{FF2B5EF4-FFF2-40B4-BE49-F238E27FC236}">
                  <a16:creationId xmlns:a16="http://schemas.microsoft.com/office/drawing/2014/main" id="{1A409D24-7699-94D1-6FAA-3F62B236D85E}"/>
                </a:ext>
              </a:extLst>
            </p:cNvPr>
            <p:cNvSpPr/>
            <p:nvPr/>
          </p:nvSpPr>
          <p:spPr>
            <a:xfrm>
              <a:off x="-45171" y="-125476"/>
              <a:ext cx="90342" cy="250952"/>
            </a:xfrm>
            <a:prstGeom prst="ellipse">
              <a:avLst/>
            </a:prstGeom>
            <a:gradFill flip="none" rotWithShape="1">
              <a:gsLst>
                <a:gs pos="0">
                  <a:srgbClr val="075069"/>
                </a:gs>
                <a:gs pos="100000">
                  <a:srgbClr val="073646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Cassette inlet tube - bore">
              <a:extLst>
                <a:ext uri="{FF2B5EF4-FFF2-40B4-BE49-F238E27FC236}">
                  <a16:creationId xmlns:a16="http://schemas.microsoft.com/office/drawing/2014/main" id="{671A0467-0F25-3681-4524-5ED8EC0A3970}"/>
                </a:ext>
              </a:extLst>
            </p:cNvPr>
            <p:cNvSpPr/>
            <p:nvPr/>
          </p:nvSpPr>
          <p:spPr>
            <a:xfrm>
              <a:off x="-21958" y="-87503"/>
              <a:ext cx="45171" cy="175006"/>
            </a:xfrm>
            <a:prstGeom prst="ellipse">
              <a:avLst/>
            </a:prstGeom>
            <a:solidFill>
              <a:srgbClr val="233439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5" name="Collection plate left thickness">
            <a:extLst>
              <a:ext uri="{FF2B5EF4-FFF2-40B4-BE49-F238E27FC236}">
                <a16:creationId xmlns:a16="http://schemas.microsoft.com/office/drawing/2014/main" id="{CE995758-B48A-3BFD-53A7-730F3D1E8B2B}"/>
              </a:ext>
            </a:extLst>
          </p:cNvPr>
          <p:cNvSpPr/>
          <p:nvPr/>
        </p:nvSpPr>
        <p:spPr>
          <a:xfrm>
            <a:off x="8742680" y="3982720"/>
            <a:ext cx="838201" cy="716281"/>
          </a:xfrm>
          <a:custGeom>
            <a:avLst/>
            <a:gdLst/>
            <a:ahLst/>
            <a:cxnLst/>
            <a:rect l="0" t="0" r="0" b="0"/>
            <a:pathLst>
              <a:path w="838201" h="716281">
                <a:moveTo>
                  <a:pt x="0" y="0"/>
                </a:moveTo>
                <a:lnTo>
                  <a:pt x="838200" y="523240"/>
                </a:lnTo>
                <a:lnTo>
                  <a:pt x="838200" y="716280"/>
                </a:lnTo>
                <a:lnTo>
                  <a:pt x="0" y="190500"/>
                </a:lnTo>
                <a:close/>
              </a:path>
            </a:pathLst>
          </a:custGeom>
          <a:solidFill>
            <a:srgbClr val="737A7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Collection plate front thickness">
            <a:extLst>
              <a:ext uri="{FF2B5EF4-FFF2-40B4-BE49-F238E27FC236}">
                <a16:creationId xmlns:a16="http://schemas.microsoft.com/office/drawing/2014/main" id="{3C6C3F75-478E-0343-3067-30A4073F6120}"/>
              </a:ext>
            </a:extLst>
          </p:cNvPr>
          <p:cNvSpPr/>
          <p:nvPr/>
        </p:nvSpPr>
        <p:spPr>
          <a:xfrm>
            <a:off x="9580880" y="4178300"/>
            <a:ext cx="1193801" cy="520701"/>
          </a:xfrm>
          <a:custGeom>
            <a:avLst/>
            <a:gdLst/>
            <a:ahLst/>
            <a:cxnLst/>
            <a:rect l="0" t="0" r="0" b="0"/>
            <a:pathLst>
              <a:path w="1193801" h="520701">
                <a:moveTo>
                  <a:pt x="0" y="327660"/>
                </a:moveTo>
                <a:lnTo>
                  <a:pt x="1193800" y="0"/>
                </a:lnTo>
                <a:lnTo>
                  <a:pt x="1193800" y="200660"/>
                </a:lnTo>
                <a:lnTo>
                  <a:pt x="0" y="520700"/>
                </a:lnTo>
                <a:close/>
              </a:path>
            </a:pathLst>
          </a:custGeom>
          <a:solidFill>
            <a:srgbClr val="616A6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Collection plate top">
            <a:extLst>
              <a:ext uri="{FF2B5EF4-FFF2-40B4-BE49-F238E27FC236}">
                <a16:creationId xmlns:a16="http://schemas.microsoft.com/office/drawing/2014/main" id="{8F119E53-B808-AABB-C84B-4ED28B7FB31B}"/>
              </a:ext>
            </a:extLst>
          </p:cNvPr>
          <p:cNvSpPr/>
          <p:nvPr/>
        </p:nvSpPr>
        <p:spPr>
          <a:xfrm>
            <a:off x="8742680" y="3611880"/>
            <a:ext cx="2128521" cy="894081"/>
          </a:xfrm>
          <a:custGeom>
            <a:avLst/>
            <a:gdLst/>
            <a:ahLst/>
            <a:cxnLst/>
            <a:rect l="0" t="0" r="0" b="0"/>
            <a:pathLst>
              <a:path w="2128521" h="894081">
                <a:moveTo>
                  <a:pt x="0" y="370840"/>
                </a:moveTo>
                <a:lnTo>
                  <a:pt x="1313180" y="0"/>
                </a:lnTo>
                <a:lnTo>
                  <a:pt x="2128520" y="467360"/>
                </a:lnTo>
                <a:lnTo>
                  <a:pt x="838200" y="894080"/>
                </a:lnTo>
                <a:close/>
              </a:path>
            </a:pathLst>
          </a:custGeom>
          <a:solidFill>
            <a:srgbClr val="9095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Collection plate groove 0">
            <a:extLst>
              <a:ext uri="{FF2B5EF4-FFF2-40B4-BE49-F238E27FC236}">
                <a16:creationId xmlns:a16="http://schemas.microsoft.com/office/drawing/2014/main" id="{36EF0A6E-6B3B-31DE-526B-3ECE163B9CA8}"/>
              </a:ext>
            </a:extLst>
          </p:cNvPr>
          <p:cNvSpPr/>
          <p:nvPr/>
        </p:nvSpPr>
        <p:spPr>
          <a:xfrm>
            <a:off x="8882380" y="3941572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Collection plate groove 1">
            <a:extLst>
              <a:ext uri="{FF2B5EF4-FFF2-40B4-BE49-F238E27FC236}">
                <a16:creationId xmlns:a16="http://schemas.microsoft.com/office/drawing/2014/main" id="{4F380FF0-5E9B-3E21-4D03-97EBC9B10903}"/>
              </a:ext>
            </a:extLst>
          </p:cNvPr>
          <p:cNvSpPr/>
          <p:nvPr/>
        </p:nvSpPr>
        <p:spPr>
          <a:xfrm>
            <a:off x="8972550" y="3916299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Collection plate groove 2">
            <a:extLst>
              <a:ext uri="{FF2B5EF4-FFF2-40B4-BE49-F238E27FC236}">
                <a16:creationId xmlns:a16="http://schemas.microsoft.com/office/drawing/2014/main" id="{C0AA2510-9990-5F7F-AB12-0BF3ADD90169}"/>
              </a:ext>
            </a:extLst>
          </p:cNvPr>
          <p:cNvSpPr/>
          <p:nvPr/>
        </p:nvSpPr>
        <p:spPr>
          <a:xfrm>
            <a:off x="9062720" y="3891026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Collection plate groove 3">
            <a:extLst>
              <a:ext uri="{FF2B5EF4-FFF2-40B4-BE49-F238E27FC236}">
                <a16:creationId xmlns:a16="http://schemas.microsoft.com/office/drawing/2014/main" id="{CDC351DD-E648-EB3D-B03A-B016B52A4CA8}"/>
              </a:ext>
            </a:extLst>
          </p:cNvPr>
          <p:cNvSpPr/>
          <p:nvPr/>
        </p:nvSpPr>
        <p:spPr>
          <a:xfrm>
            <a:off x="9152890" y="3865753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Collection plate groove 4">
            <a:extLst>
              <a:ext uri="{FF2B5EF4-FFF2-40B4-BE49-F238E27FC236}">
                <a16:creationId xmlns:a16="http://schemas.microsoft.com/office/drawing/2014/main" id="{5A30FAE3-C4FA-AC74-E0BC-73C51EF7ACD1}"/>
              </a:ext>
            </a:extLst>
          </p:cNvPr>
          <p:cNvSpPr/>
          <p:nvPr/>
        </p:nvSpPr>
        <p:spPr>
          <a:xfrm>
            <a:off x="9243060" y="3840480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Collection plate groove 5">
            <a:extLst>
              <a:ext uri="{FF2B5EF4-FFF2-40B4-BE49-F238E27FC236}">
                <a16:creationId xmlns:a16="http://schemas.microsoft.com/office/drawing/2014/main" id="{5824B932-91A0-E2EB-E18F-282798EFA770}"/>
              </a:ext>
            </a:extLst>
          </p:cNvPr>
          <p:cNvSpPr/>
          <p:nvPr/>
        </p:nvSpPr>
        <p:spPr>
          <a:xfrm>
            <a:off x="9333230" y="3815207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Collection plate groove 6">
            <a:extLst>
              <a:ext uri="{FF2B5EF4-FFF2-40B4-BE49-F238E27FC236}">
                <a16:creationId xmlns:a16="http://schemas.microsoft.com/office/drawing/2014/main" id="{3DBEC268-8C69-0BFD-A75E-215B5C041FBA}"/>
              </a:ext>
            </a:extLst>
          </p:cNvPr>
          <p:cNvSpPr/>
          <p:nvPr/>
        </p:nvSpPr>
        <p:spPr>
          <a:xfrm>
            <a:off x="9423400" y="3789934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Collection plate groove 7">
            <a:extLst>
              <a:ext uri="{FF2B5EF4-FFF2-40B4-BE49-F238E27FC236}">
                <a16:creationId xmlns:a16="http://schemas.microsoft.com/office/drawing/2014/main" id="{040ADBE1-08CF-CA52-3EAE-BB0555B56B5E}"/>
              </a:ext>
            </a:extLst>
          </p:cNvPr>
          <p:cNvSpPr/>
          <p:nvPr/>
        </p:nvSpPr>
        <p:spPr>
          <a:xfrm>
            <a:off x="9513570" y="3764661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Collection plate groove 8">
            <a:extLst>
              <a:ext uri="{FF2B5EF4-FFF2-40B4-BE49-F238E27FC236}">
                <a16:creationId xmlns:a16="http://schemas.microsoft.com/office/drawing/2014/main" id="{171B9857-5B9C-ED4C-05CB-4821B85566F8}"/>
              </a:ext>
            </a:extLst>
          </p:cNvPr>
          <p:cNvSpPr/>
          <p:nvPr/>
        </p:nvSpPr>
        <p:spPr>
          <a:xfrm>
            <a:off x="9603740" y="3739388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Collection plate groove 9">
            <a:extLst>
              <a:ext uri="{FF2B5EF4-FFF2-40B4-BE49-F238E27FC236}">
                <a16:creationId xmlns:a16="http://schemas.microsoft.com/office/drawing/2014/main" id="{8C735FD2-5FE2-EE6F-8448-721333977006}"/>
              </a:ext>
            </a:extLst>
          </p:cNvPr>
          <p:cNvSpPr/>
          <p:nvPr/>
        </p:nvSpPr>
        <p:spPr>
          <a:xfrm>
            <a:off x="9693910" y="3714115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Collection plate groove 10">
            <a:extLst>
              <a:ext uri="{FF2B5EF4-FFF2-40B4-BE49-F238E27FC236}">
                <a16:creationId xmlns:a16="http://schemas.microsoft.com/office/drawing/2014/main" id="{92295A44-A15C-8DB4-E62C-282821DDF527}"/>
              </a:ext>
            </a:extLst>
          </p:cNvPr>
          <p:cNvSpPr/>
          <p:nvPr/>
        </p:nvSpPr>
        <p:spPr>
          <a:xfrm>
            <a:off x="9784080" y="3688842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Collection plate groove 11">
            <a:extLst>
              <a:ext uri="{FF2B5EF4-FFF2-40B4-BE49-F238E27FC236}">
                <a16:creationId xmlns:a16="http://schemas.microsoft.com/office/drawing/2014/main" id="{FCDB93FC-98FB-7884-2A4F-A84FA0F77D7D}"/>
              </a:ext>
            </a:extLst>
          </p:cNvPr>
          <p:cNvSpPr/>
          <p:nvPr/>
        </p:nvSpPr>
        <p:spPr>
          <a:xfrm>
            <a:off x="9874250" y="3663569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Collection plate groove 12">
            <a:extLst>
              <a:ext uri="{FF2B5EF4-FFF2-40B4-BE49-F238E27FC236}">
                <a16:creationId xmlns:a16="http://schemas.microsoft.com/office/drawing/2014/main" id="{394E2E82-D95D-EE17-3EB4-7011C085DD0D}"/>
              </a:ext>
            </a:extLst>
          </p:cNvPr>
          <p:cNvSpPr/>
          <p:nvPr/>
        </p:nvSpPr>
        <p:spPr>
          <a:xfrm>
            <a:off x="9964420" y="3638296"/>
            <a:ext cx="205741" cy="110237"/>
          </a:xfrm>
          <a:custGeom>
            <a:avLst/>
            <a:gdLst/>
            <a:ahLst/>
            <a:cxnLst/>
            <a:rect l="0" t="0" r="0" b="0"/>
            <a:pathLst>
              <a:path w="205741" h="110237">
                <a:moveTo>
                  <a:pt x="0" y="13208"/>
                </a:moveTo>
                <a:lnTo>
                  <a:pt x="46990" y="0"/>
                </a:lnTo>
                <a:lnTo>
                  <a:pt x="205740" y="96266"/>
                </a:lnTo>
                <a:lnTo>
                  <a:pt x="158750" y="110236"/>
                </a:lnTo>
                <a:close/>
              </a:path>
            </a:pathLst>
          </a:custGeom>
          <a:solidFill>
            <a:srgbClr val="424A4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Collection plate raised handle">
            <a:extLst>
              <a:ext uri="{FF2B5EF4-FFF2-40B4-BE49-F238E27FC236}">
                <a16:creationId xmlns:a16="http://schemas.microsoft.com/office/drawing/2014/main" id="{5228897A-D26E-A875-69D0-0C5DB2D0CB61}"/>
              </a:ext>
            </a:extLst>
          </p:cNvPr>
          <p:cNvSpPr/>
          <p:nvPr/>
        </p:nvSpPr>
        <p:spPr>
          <a:xfrm>
            <a:off x="9677400" y="3995420"/>
            <a:ext cx="1181101" cy="381001"/>
          </a:xfrm>
          <a:custGeom>
            <a:avLst/>
            <a:gdLst/>
            <a:ahLst/>
            <a:cxnLst/>
            <a:rect l="0" t="0" r="0" b="0"/>
            <a:pathLst>
              <a:path w="1181101" h="381001">
                <a:moveTo>
                  <a:pt x="0" y="299720"/>
                </a:moveTo>
                <a:lnTo>
                  <a:pt x="1061720" y="0"/>
                </a:lnTo>
                <a:lnTo>
                  <a:pt x="1181100" y="71120"/>
                </a:lnTo>
                <a:lnTo>
                  <a:pt x="111760" y="381000"/>
                </a:lnTo>
                <a:close/>
              </a:path>
            </a:pathLst>
          </a:custGeom>
          <a:solidFill>
            <a:srgbClr val="686F6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Collection plate handle thickness">
            <a:extLst>
              <a:ext uri="{FF2B5EF4-FFF2-40B4-BE49-F238E27FC236}">
                <a16:creationId xmlns:a16="http://schemas.microsoft.com/office/drawing/2014/main" id="{E1D6D3F9-D8F7-0D10-E629-0BAC0C48E607}"/>
              </a:ext>
            </a:extLst>
          </p:cNvPr>
          <p:cNvSpPr/>
          <p:nvPr/>
        </p:nvSpPr>
        <p:spPr>
          <a:xfrm>
            <a:off x="9789160" y="4066540"/>
            <a:ext cx="1069341" cy="497841"/>
          </a:xfrm>
          <a:custGeom>
            <a:avLst/>
            <a:gdLst/>
            <a:ahLst/>
            <a:cxnLst/>
            <a:rect l="0" t="0" r="0" b="0"/>
            <a:pathLst>
              <a:path w="1069341" h="497841">
                <a:moveTo>
                  <a:pt x="0" y="309880"/>
                </a:moveTo>
                <a:lnTo>
                  <a:pt x="1069340" y="0"/>
                </a:lnTo>
                <a:lnTo>
                  <a:pt x="1069340" y="187960"/>
                </a:lnTo>
                <a:lnTo>
                  <a:pt x="0" y="497840"/>
                </a:lnTo>
                <a:close/>
              </a:path>
            </a:pathLst>
          </a:custGeom>
          <a:solidFill>
            <a:srgbClr val="7079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Collection plate right lug">
            <a:extLst>
              <a:ext uri="{FF2B5EF4-FFF2-40B4-BE49-F238E27FC236}">
                <a16:creationId xmlns:a16="http://schemas.microsoft.com/office/drawing/2014/main" id="{C261A5EF-B36C-9456-D595-16A9DC90E4F8}"/>
              </a:ext>
            </a:extLst>
          </p:cNvPr>
          <p:cNvSpPr/>
          <p:nvPr/>
        </p:nvSpPr>
        <p:spPr>
          <a:xfrm>
            <a:off x="10660380" y="3942080"/>
            <a:ext cx="236221" cy="370841"/>
          </a:xfrm>
          <a:custGeom>
            <a:avLst/>
            <a:gdLst/>
            <a:ahLst/>
            <a:cxnLst/>
            <a:rect l="0" t="0" r="0" b="0"/>
            <a:pathLst>
              <a:path w="236221" h="370841">
                <a:moveTo>
                  <a:pt x="0" y="35560"/>
                </a:moveTo>
                <a:lnTo>
                  <a:pt x="147320" y="0"/>
                </a:lnTo>
                <a:lnTo>
                  <a:pt x="236220" y="63500"/>
                </a:lnTo>
                <a:lnTo>
                  <a:pt x="236220" y="350520"/>
                </a:lnTo>
                <a:lnTo>
                  <a:pt x="134620" y="370840"/>
                </a:lnTo>
                <a:lnTo>
                  <a:pt x="134620" y="121920"/>
                </a:lnTo>
                <a:close/>
              </a:path>
            </a:pathLst>
          </a:custGeom>
          <a:solidFill>
            <a:srgbClr val="7C847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4" name="Collection plate left green contact">
            <a:extLst>
              <a:ext uri="{FF2B5EF4-FFF2-40B4-BE49-F238E27FC236}">
                <a16:creationId xmlns:a16="http://schemas.microsoft.com/office/drawing/2014/main" id="{8664906A-9AF0-060A-E0AE-952AE4D5E0A8}"/>
              </a:ext>
            </a:extLst>
          </p:cNvPr>
          <p:cNvCxnSpPr/>
          <p:nvPr/>
        </p:nvCxnSpPr>
        <p:spPr>
          <a:xfrm>
            <a:off x="9695180" y="4572000"/>
            <a:ext cx="83820" cy="228600"/>
          </a:xfrm>
          <a:prstGeom prst="line">
            <a:avLst/>
          </a:prstGeom>
          <a:ln w="17780">
            <a:solidFill>
              <a:srgbClr val="5B9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llection plate right green contact">
            <a:extLst>
              <a:ext uri="{FF2B5EF4-FFF2-40B4-BE49-F238E27FC236}">
                <a16:creationId xmlns:a16="http://schemas.microsoft.com/office/drawing/2014/main" id="{536A62BC-4667-345F-96FC-BC77FF118482}"/>
              </a:ext>
            </a:extLst>
          </p:cNvPr>
          <p:cNvCxnSpPr/>
          <p:nvPr/>
        </p:nvCxnSpPr>
        <p:spPr>
          <a:xfrm>
            <a:off x="10833100" y="4302760"/>
            <a:ext cx="73660" cy="172720"/>
          </a:xfrm>
          <a:prstGeom prst="line">
            <a:avLst/>
          </a:prstGeom>
          <a:ln w="17780">
            <a:solidFill>
              <a:srgbClr val="5B9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A1 - Tungsten wire">
            <a:extLst>
              <a:ext uri="{FF2B5EF4-FFF2-40B4-BE49-F238E27FC236}">
                <a16:creationId xmlns:a16="http://schemas.microsoft.com/office/drawing/2014/main" id="{04B84450-E11C-4884-10B7-79899331976E}"/>
              </a:ext>
            </a:extLst>
          </p:cNvPr>
          <p:cNvCxnSpPr/>
          <p:nvPr/>
        </p:nvCxnSpPr>
        <p:spPr>
          <a:xfrm>
            <a:off x="1414780" y="2921000"/>
            <a:ext cx="185420" cy="117094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A2 - Spacer">
            <a:extLst>
              <a:ext uri="{FF2B5EF4-FFF2-40B4-BE49-F238E27FC236}">
                <a16:creationId xmlns:a16="http://schemas.microsoft.com/office/drawing/2014/main" id="{88730811-061E-6D29-6193-BFCE97CE8683}"/>
              </a:ext>
            </a:extLst>
          </p:cNvPr>
          <p:cNvCxnSpPr/>
          <p:nvPr/>
        </p:nvCxnSpPr>
        <p:spPr>
          <a:xfrm>
            <a:off x="2466340" y="2430780"/>
            <a:ext cx="335280" cy="105918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A3 - Fitting pipe">
            <a:extLst>
              <a:ext uri="{FF2B5EF4-FFF2-40B4-BE49-F238E27FC236}">
                <a16:creationId xmlns:a16="http://schemas.microsoft.com/office/drawing/2014/main" id="{519D2924-10A2-CA7D-1D8D-EACF021381A0}"/>
              </a:ext>
            </a:extLst>
          </p:cNvPr>
          <p:cNvCxnSpPr/>
          <p:nvPr/>
        </p:nvCxnSpPr>
        <p:spPr>
          <a:xfrm>
            <a:off x="4422140" y="1993900"/>
            <a:ext cx="266700" cy="108204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A4 - Steel ground">
            <a:extLst>
              <a:ext uri="{FF2B5EF4-FFF2-40B4-BE49-F238E27FC236}">
                <a16:creationId xmlns:a16="http://schemas.microsoft.com/office/drawing/2014/main" id="{A77F7DEC-8770-0844-1798-BBE2713852BA}"/>
              </a:ext>
            </a:extLst>
          </p:cNvPr>
          <p:cNvCxnSpPr/>
          <p:nvPr/>
        </p:nvCxnSpPr>
        <p:spPr>
          <a:xfrm flipH="1" flipV="1">
            <a:off x="3573780" y="4147820"/>
            <a:ext cx="261620" cy="82804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A5 - Guide plate">
            <a:extLst>
              <a:ext uri="{FF2B5EF4-FFF2-40B4-BE49-F238E27FC236}">
                <a16:creationId xmlns:a16="http://schemas.microsoft.com/office/drawing/2014/main" id="{BB6D0AE9-DC49-4319-CB0B-D7F8473B81D5}"/>
              </a:ext>
            </a:extLst>
          </p:cNvPr>
          <p:cNvCxnSpPr/>
          <p:nvPr/>
        </p:nvCxnSpPr>
        <p:spPr>
          <a:xfrm flipH="1" flipV="1">
            <a:off x="5532120" y="3830320"/>
            <a:ext cx="309880" cy="80518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A6 - Cassette">
            <a:extLst>
              <a:ext uri="{FF2B5EF4-FFF2-40B4-BE49-F238E27FC236}">
                <a16:creationId xmlns:a16="http://schemas.microsoft.com/office/drawing/2014/main" id="{788ED778-24B4-74BD-A75A-F461835B0535}"/>
              </a:ext>
            </a:extLst>
          </p:cNvPr>
          <p:cNvCxnSpPr/>
          <p:nvPr/>
        </p:nvCxnSpPr>
        <p:spPr>
          <a:xfrm>
            <a:off x="7711440" y="1600200"/>
            <a:ext cx="299720" cy="106680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A7 - Upper electrode">
            <a:extLst>
              <a:ext uri="{FF2B5EF4-FFF2-40B4-BE49-F238E27FC236}">
                <a16:creationId xmlns:a16="http://schemas.microsoft.com/office/drawing/2014/main" id="{7C702394-A126-9361-3F5C-C51C4A618C4D}"/>
              </a:ext>
            </a:extLst>
          </p:cNvPr>
          <p:cNvCxnSpPr/>
          <p:nvPr/>
        </p:nvCxnSpPr>
        <p:spPr>
          <a:xfrm>
            <a:off x="10223500" y="848360"/>
            <a:ext cx="1008380" cy="105156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A8 - Lower electrode">
            <a:extLst>
              <a:ext uri="{FF2B5EF4-FFF2-40B4-BE49-F238E27FC236}">
                <a16:creationId xmlns:a16="http://schemas.microsoft.com/office/drawing/2014/main" id="{23F538A5-41E7-57CE-B912-50522D893D23}"/>
              </a:ext>
            </a:extLst>
          </p:cNvPr>
          <p:cNvCxnSpPr/>
          <p:nvPr/>
        </p:nvCxnSpPr>
        <p:spPr>
          <a:xfrm>
            <a:off x="10223500" y="848360"/>
            <a:ext cx="495300" cy="192024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A9 - Collection plate">
            <a:extLst>
              <a:ext uri="{FF2B5EF4-FFF2-40B4-BE49-F238E27FC236}">
                <a16:creationId xmlns:a16="http://schemas.microsoft.com/office/drawing/2014/main" id="{AE0F86D2-460C-0B48-9D74-063DC2D15CDF}"/>
              </a:ext>
            </a:extLst>
          </p:cNvPr>
          <p:cNvCxnSpPr/>
          <p:nvPr/>
        </p:nvCxnSpPr>
        <p:spPr>
          <a:xfrm flipV="1">
            <a:off x="8519160" y="4122420"/>
            <a:ext cx="391160" cy="490220"/>
          </a:xfrm>
          <a:prstGeom prst="line">
            <a:avLst/>
          </a:prstGeom>
          <a:ln w="16510">
            <a:solidFill>
              <a:srgbClr val="22222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Label - (a)">
            <a:extLst>
              <a:ext uri="{FF2B5EF4-FFF2-40B4-BE49-F238E27FC236}">
                <a16:creationId xmlns:a16="http://schemas.microsoft.com/office/drawing/2014/main" id="{FC8ED575-350C-442B-67F5-B9AA34166423}"/>
              </a:ext>
            </a:extLst>
          </p:cNvPr>
          <p:cNvSpPr txBox="1"/>
          <p:nvPr/>
        </p:nvSpPr>
        <p:spPr>
          <a:xfrm>
            <a:off x="464820" y="121920"/>
            <a:ext cx="357470" cy="3847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  <a:endParaRPr lang="zh-CN" altLang="en-US" sz="2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" name="Label - (b)">
            <a:extLst>
              <a:ext uri="{FF2B5EF4-FFF2-40B4-BE49-F238E27FC236}">
                <a16:creationId xmlns:a16="http://schemas.microsoft.com/office/drawing/2014/main" id="{316F9080-5847-0291-E9CD-DDF1747CC885}"/>
              </a:ext>
            </a:extLst>
          </p:cNvPr>
          <p:cNvSpPr txBox="1"/>
          <p:nvPr/>
        </p:nvSpPr>
        <p:spPr>
          <a:xfrm>
            <a:off x="6532880" y="121920"/>
            <a:ext cx="375103" cy="3847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  <a:endParaRPr lang="zh-CN" altLang="en-US" sz="2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" name="Label - Tungsten wire">
            <a:extLst>
              <a:ext uri="{FF2B5EF4-FFF2-40B4-BE49-F238E27FC236}">
                <a16:creationId xmlns:a16="http://schemas.microsoft.com/office/drawing/2014/main" id="{45C5F979-815F-A4F6-E5C8-C22A4B1C4BFB}"/>
              </a:ext>
            </a:extLst>
          </p:cNvPr>
          <p:cNvSpPr txBox="1"/>
          <p:nvPr/>
        </p:nvSpPr>
        <p:spPr>
          <a:xfrm>
            <a:off x="566420" y="2425700"/>
            <a:ext cx="1685590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Tungsten wire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" name="Label - 3D-printed spacer">
            <a:extLst>
              <a:ext uri="{FF2B5EF4-FFF2-40B4-BE49-F238E27FC236}">
                <a16:creationId xmlns:a16="http://schemas.microsoft.com/office/drawing/2014/main" id="{8B51B9B1-56CF-F18A-37A9-C287B7ABA46A}"/>
              </a:ext>
            </a:extLst>
          </p:cNvPr>
          <p:cNvSpPr txBox="1"/>
          <p:nvPr/>
        </p:nvSpPr>
        <p:spPr>
          <a:xfrm>
            <a:off x="1397000" y="1935480"/>
            <a:ext cx="2122376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3D-printed spacer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" name="Label - 3D-printed fitting pipe">
            <a:extLst>
              <a:ext uri="{FF2B5EF4-FFF2-40B4-BE49-F238E27FC236}">
                <a16:creationId xmlns:a16="http://schemas.microsoft.com/office/drawing/2014/main" id="{4E0B11D5-FF90-CE07-2481-E6A0F91BF5B2}"/>
              </a:ext>
            </a:extLst>
          </p:cNvPr>
          <p:cNvSpPr txBox="1"/>
          <p:nvPr/>
        </p:nvSpPr>
        <p:spPr>
          <a:xfrm>
            <a:off x="3073400" y="1524000"/>
            <a:ext cx="2669000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3D-printed fitting pipe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" name="Label - Stainless steel ground">
            <a:extLst>
              <a:ext uri="{FF2B5EF4-FFF2-40B4-BE49-F238E27FC236}">
                <a16:creationId xmlns:a16="http://schemas.microsoft.com/office/drawing/2014/main" id="{D1199C02-92CF-4ECC-E623-A36470DD80C1}"/>
              </a:ext>
            </a:extLst>
          </p:cNvPr>
          <p:cNvSpPr txBox="1"/>
          <p:nvPr/>
        </p:nvSpPr>
        <p:spPr>
          <a:xfrm>
            <a:off x="2565400" y="5105400"/>
            <a:ext cx="2574423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Stainless steel ground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" name="Label - Guide plate">
            <a:extLst>
              <a:ext uri="{FF2B5EF4-FFF2-40B4-BE49-F238E27FC236}">
                <a16:creationId xmlns:a16="http://schemas.microsoft.com/office/drawing/2014/main" id="{CA7EF06B-E193-107A-90CA-7414AF0FF553}"/>
              </a:ext>
            </a:extLst>
          </p:cNvPr>
          <p:cNvSpPr txBox="1"/>
          <p:nvPr/>
        </p:nvSpPr>
        <p:spPr>
          <a:xfrm>
            <a:off x="5113020" y="4792980"/>
            <a:ext cx="1368965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Guide plate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Label - Charging section">
            <a:extLst>
              <a:ext uri="{FF2B5EF4-FFF2-40B4-BE49-F238E27FC236}">
                <a16:creationId xmlns:a16="http://schemas.microsoft.com/office/drawing/2014/main" id="{2D252E80-0B47-49CE-DB01-99F9547858B3}"/>
              </a:ext>
            </a:extLst>
          </p:cNvPr>
          <p:cNvSpPr txBox="1"/>
          <p:nvPr/>
        </p:nvSpPr>
        <p:spPr>
          <a:xfrm>
            <a:off x="2832100" y="5501640"/>
            <a:ext cx="2274662" cy="3754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440" b="1">
                <a:solidFill>
                  <a:srgbClr val="000000"/>
                </a:solidFill>
                <a:latin typeface="Times New Roman" panose="02020603050405020304" pitchFamily="18" charset="0"/>
              </a:rPr>
              <a:t>Charging section</a:t>
            </a:r>
            <a:endParaRPr lang="zh-CN" altLang="en-US" sz="244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" name="Label - 3D-printed cassette">
            <a:extLst>
              <a:ext uri="{FF2B5EF4-FFF2-40B4-BE49-F238E27FC236}">
                <a16:creationId xmlns:a16="http://schemas.microsoft.com/office/drawing/2014/main" id="{7E10B26A-A3CA-E50B-0CF9-B759E052C918}"/>
              </a:ext>
            </a:extLst>
          </p:cNvPr>
          <p:cNvSpPr txBox="1"/>
          <p:nvPr/>
        </p:nvSpPr>
        <p:spPr>
          <a:xfrm>
            <a:off x="6548120" y="1125220"/>
            <a:ext cx="2287486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3D-printed cassette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" name="Label - Collection electrodes">
            <a:extLst>
              <a:ext uri="{FF2B5EF4-FFF2-40B4-BE49-F238E27FC236}">
                <a16:creationId xmlns:a16="http://schemas.microsoft.com/office/drawing/2014/main" id="{F90A7D3B-F8A4-6B37-C0D7-200AA188C5E9}"/>
              </a:ext>
            </a:extLst>
          </p:cNvPr>
          <p:cNvSpPr txBox="1"/>
          <p:nvPr/>
        </p:nvSpPr>
        <p:spPr>
          <a:xfrm>
            <a:off x="8961120" y="350520"/>
            <a:ext cx="2500685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Collection electrodes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" name="Label - Collection plate">
            <a:extLst>
              <a:ext uri="{FF2B5EF4-FFF2-40B4-BE49-F238E27FC236}">
                <a16:creationId xmlns:a16="http://schemas.microsoft.com/office/drawing/2014/main" id="{91C14D0C-ADBF-A9CB-2FC6-9DFB62BF12B9}"/>
              </a:ext>
            </a:extLst>
          </p:cNvPr>
          <p:cNvSpPr txBox="1"/>
          <p:nvPr/>
        </p:nvSpPr>
        <p:spPr>
          <a:xfrm>
            <a:off x="7553960" y="4734560"/>
            <a:ext cx="1877117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Times New Roman" panose="02020603050405020304" pitchFamily="18" charset="0"/>
              </a:rPr>
              <a:t>Collection plate</a:t>
            </a:r>
            <a:endParaRPr lang="zh-CN" altLang="en-US" sz="2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" name="Label - Collection section">
            <a:extLst>
              <a:ext uri="{FF2B5EF4-FFF2-40B4-BE49-F238E27FC236}">
                <a16:creationId xmlns:a16="http://schemas.microsoft.com/office/drawing/2014/main" id="{383BE595-86FE-45A7-67AB-5F9567B68C8C}"/>
              </a:ext>
            </a:extLst>
          </p:cNvPr>
          <p:cNvSpPr txBox="1"/>
          <p:nvPr/>
        </p:nvSpPr>
        <p:spPr>
          <a:xfrm>
            <a:off x="8681720" y="5501640"/>
            <a:ext cx="2359620" cy="3754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2440" b="1">
                <a:solidFill>
                  <a:srgbClr val="000000"/>
                </a:solidFill>
                <a:latin typeface="Times New Roman" panose="02020603050405020304" pitchFamily="18" charset="0"/>
              </a:rPr>
              <a:t>Collection section</a:t>
            </a:r>
            <a:endParaRPr lang="zh-CN" altLang="en-US" sz="244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87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 李</dc:creator>
  <cp:lastModifiedBy>源 李</cp:lastModifiedBy>
  <cp:revision>1</cp:revision>
  <dcterms:created xsi:type="dcterms:W3CDTF">2026-10-26T01:35:10Z</dcterms:created>
  <dcterms:modified xsi:type="dcterms:W3CDTF">2026-10-26T01:35:10Z</dcterms:modified>
</cp:coreProperties>
</file>