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5240000" cy="762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1C926-7033-4EBD-BBD8-84AE2D902EC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23A68-2CD5-4A27-B0E4-CA4F60271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94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Illustrative workflow for RouteGraph. Image interpretation and scientific judgement remain Agent-led. Instrument scenes use the scene compiler; ordinary diagrams use the existing topology-first script workflow. This figure does not claim automatic OCR, segmentation or scientific validation.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23A68-2CD5-4A27-B0E4-CA4F6027175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90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016E7-82D8-2E62-CD05-001DAE566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247070"/>
            <a:ext cx="11430000" cy="26528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EA0074-E9B0-178E-7AC7-2058C0B77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002264"/>
            <a:ext cx="11430000" cy="183973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5D079-E25D-9F62-ADE8-FB99B3ED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1F358-0179-B31B-7DD5-8D76B4EE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AA5B3-50FD-3008-F23C-9543253F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69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C1C15-6245-1490-B4AC-3F6301C3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9D6C4-4A70-BBD4-88EE-045EA7E1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555316-06CC-762F-1DAA-F0F47F68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7208E4-32D2-7426-5F61-40C5BAB3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0BE87-5E6B-E711-B418-90559AF8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0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13E20-08BF-8D67-E013-FB59175B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1899710"/>
            <a:ext cx="13144500" cy="31697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E815F-E64A-A6C2-2F69-64AC3F46B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099405"/>
            <a:ext cx="13144500" cy="16668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AE1DC-0EB9-A75B-E55C-DED32257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C3DB5-4F52-50C1-E8E2-2C5EB251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FDC8D-C813-63C0-4EDB-1A928134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9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2553D-C134-E876-FBFD-8EB628E6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D83E3-967C-E7F6-929A-2B051C722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028472"/>
            <a:ext cx="6477000" cy="48348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E53271-ADEC-536A-61BE-DBC83DF94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5250" y="2028472"/>
            <a:ext cx="6477000" cy="48348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3201C-C5A3-FB26-D863-AA19DCA2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77AE9A-84AB-3CF5-2F22-82821415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EC9870-1EC4-2B54-DF01-FA81154F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2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3BF6E-17DC-B980-71F1-C559E1F9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5" y="405696"/>
            <a:ext cx="13144500" cy="14728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D3996-B0E4-B87E-0FAC-FD834CEE6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736" y="1867959"/>
            <a:ext cx="6447234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E28241-F6B9-8EF4-D87F-59735A141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736" y="2783417"/>
            <a:ext cx="6447234" cy="409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F0B2A3-2D57-A28F-28D7-63D76B3B2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1" y="1867959"/>
            <a:ext cx="6478985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72B781-9E5D-9B43-7122-BE3ADD7EB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1" y="2783417"/>
            <a:ext cx="6478985" cy="409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833985-9FDD-30C2-5ECB-81C46B46B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EE4C54-226E-D5B4-57A9-56771C1D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4252A2-143B-4D38-CA19-91A9B5DC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44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06A66-7A42-EB56-A233-21209B80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5A858F-D448-B53F-07D9-D8B12796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29C2DC-9F95-F6B6-0314-009E40FF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423C08-3FD5-E174-27D4-4EE5345F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4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BD95E1-3EEC-3B84-9F32-70BB2A09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DC6DB4-7F5E-B569-CF95-C4AB2AF5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F2B799-3847-373C-52A8-BC3C1B75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7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FA8B0-EF9A-E850-93D7-F91E53F6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08000"/>
            <a:ext cx="4915296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FADAF-1DA4-3B80-3E11-43CDAEFA0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985" y="1097141"/>
            <a:ext cx="7715250" cy="5415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BFBBCF-D6B2-6CE2-EDDC-EAB61B0F2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286000"/>
            <a:ext cx="4915296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94A98C-4FF4-44CA-8049-5DA360D1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F4D3DC-BD0A-A5DE-8295-72CD1B39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8C9FA-2B3C-D3A4-BD5C-4E87BCAB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4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E1F69-A54F-D528-D171-88F2FB2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08000"/>
            <a:ext cx="4915296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6DAC17-E339-D2B4-3829-AC9613DDE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78985" y="1097141"/>
            <a:ext cx="7715250" cy="54151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7AAB47-0F86-E520-93C5-F3ED7EBE8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286000"/>
            <a:ext cx="4915296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C7D13E-8DDD-2E0E-681A-35EBF9CA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652D42-B182-A68D-AB57-C12FA1DA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7458B-70BC-0A3E-6275-D7A8640E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40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2D78C-A4A4-F5C8-49AF-F8052892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89E9CE-5354-6D94-EF44-5B6981DD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19CC7-AD08-1126-6D97-A586B899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10C7B-77AD-CD12-4879-A5134BFF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CC82F-BD26-D022-738E-533427BD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5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5BDB1A-B9AA-FB2D-E5A8-1CC64C526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6" y="405694"/>
            <a:ext cx="3286125" cy="64575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BDB611-01CD-2061-CDF3-28273C4DD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1" y="405694"/>
            <a:ext cx="9667875" cy="64575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CD979-5386-10C0-8131-0BF7EBF1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EC7938-1D53-A644-0F75-42E2805B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EACAAA-6FC6-DCCF-0545-9D36CE0B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89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9AAB89-F795-367C-13DA-E36508DA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405696"/>
            <a:ext cx="13144500" cy="1472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451728-2153-55BF-2BBE-6E8EA38C9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2028472"/>
            <a:ext cx="13144500" cy="483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BE13D-D7D4-5CD6-7028-0E1BA9BC5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" y="7062613"/>
            <a:ext cx="34290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5E46B-57E9-42FC-8CB5-9B188CB2D1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B058A3-CD0C-D175-A2AA-9B595522B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7062613"/>
            <a:ext cx="51435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B82F1D-75C6-F16E-5D06-0F2443C8B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7062613"/>
            <a:ext cx="34290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3BD4-705B-413B-88C6-05D3504A3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D90340-8519-3B8D-5653-EF2286CEB03E}"/>
              </a:ext>
            </a:extLst>
          </p:cNvPr>
          <p:cNvSpPr txBox="1"/>
          <p:nvPr/>
        </p:nvSpPr>
        <p:spPr>
          <a:xfrm>
            <a:off x="457200" y="381000"/>
            <a:ext cx="143256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3200" b="1">
                <a:solidFill>
                  <a:srgbClr val="172B4D"/>
                </a:solidFill>
                <a:latin typeface="Arial" panose="020B0604020202020204" pitchFamily="34" charset="0"/>
              </a:rPr>
              <a:t>From reference figure to editable PowerPoint</a:t>
            </a:r>
            <a:endParaRPr lang="zh-CN" altLang="en-US" sz="3200" b="1">
              <a:solidFill>
                <a:srgbClr val="172B4D"/>
              </a:solidFill>
              <a:latin typeface="Arial" panose="020B060402020202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BE7EFE9-8A66-746E-27A2-01F825280F0B}"/>
              </a:ext>
            </a:extLst>
          </p:cNvPr>
          <p:cNvSpPr txBox="1"/>
          <p:nvPr/>
        </p:nvSpPr>
        <p:spPr>
          <a:xfrm>
            <a:off x="457200" y="1155700"/>
            <a:ext cx="143256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>
                <a:solidFill>
                  <a:srgbClr val="52627A"/>
                </a:solidFill>
                <a:latin typeface="Arial" panose="020B0604020202020204" pitchFamily="34" charset="0"/>
              </a:rPr>
              <a:t>RouteGraph  /  Agent-guided scientific figure reconstruction</a:t>
            </a:r>
            <a:endParaRPr lang="zh-CN" altLang="en-US">
              <a:solidFill>
                <a:srgbClr val="52627A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stage/reference">
            <a:extLst>
              <a:ext uri="{FF2B5EF4-FFF2-40B4-BE49-F238E27FC236}">
                <a16:creationId xmlns:a16="http://schemas.microsoft.com/office/drawing/2014/main" id="{1C797194-75F6-8C20-F04F-CB3393B369EC}"/>
              </a:ext>
            </a:extLst>
          </p:cNvPr>
          <p:cNvGrpSpPr/>
          <p:nvPr/>
        </p:nvGrpSpPr>
        <p:grpSpPr>
          <a:xfrm>
            <a:off x="457200" y="2006600"/>
            <a:ext cx="3200400" cy="3403600"/>
            <a:chOff x="457200" y="2006600"/>
            <a:chExt cx="3200400" cy="3403600"/>
          </a:xfrm>
        </p:grpSpPr>
        <p:sp>
          <p:nvSpPr>
            <p:cNvPr id="4" name="reference/panel">
              <a:extLst>
                <a:ext uri="{FF2B5EF4-FFF2-40B4-BE49-F238E27FC236}">
                  <a16:creationId xmlns:a16="http://schemas.microsoft.com/office/drawing/2014/main" id="{457433B7-C437-2D1A-25D1-46B39FF9C1F0}"/>
                </a:ext>
              </a:extLst>
            </p:cNvPr>
            <p:cNvSpPr/>
            <p:nvPr/>
          </p:nvSpPr>
          <p:spPr>
            <a:xfrm>
              <a:off x="457200" y="2006600"/>
              <a:ext cx="3200400" cy="3403600"/>
            </a:xfrm>
            <a:prstGeom prst="rect">
              <a:avLst/>
            </a:prstGeom>
            <a:solidFill>
              <a:srgbClr val="EFF7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reference/number">
              <a:extLst>
                <a:ext uri="{FF2B5EF4-FFF2-40B4-BE49-F238E27FC236}">
                  <a16:creationId xmlns:a16="http://schemas.microsoft.com/office/drawing/2014/main" id="{8FCBC485-5A5F-5A01-389F-032C9B523E27}"/>
                </a:ext>
              </a:extLst>
            </p:cNvPr>
            <p:cNvSpPr txBox="1"/>
            <p:nvPr/>
          </p:nvSpPr>
          <p:spPr>
            <a:xfrm>
              <a:off x="711200" y="2235200"/>
              <a:ext cx="508000" cy="3556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900" b="1">
                  <a:solidFill>
                    <a:srgbClr val="176B8A"/>
                  </a:solidFill>
                  <a:latin typeface="Arial" panose="020B0604020202020204" pitchFamily="34" charset="0"/>
                </a:rPr>
                <a:t>01</a:t>
              </a:r>
              <a:endParaRPr lang="zh-CN" altLang="en-US" sz="1900" b="1">
                <a:solidFill>
                  <a:srgbClr val="176B8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ference/tag">
              <a:extLst>
                <a:ext uri="{FF2B5EF4-FFF2-40B4-BE49-F238E27FC236}">
                  <a16:creationId xmlns:a16="http://schemas.microsoft.com/office/drawing/2014/main" id="{B4AC139E-5273-BCD7-80C5-5D9074107187}"/>
                </a:ext>
              </a:extLst>
            </p:cNvPr>
            <p:cNvSpPr txBox="1"/>
            <p:nvPr/>
          </p:nvSpPr>
          <p:spPr>
            <a:xfrm>
              <a:off x="711200" y="2679700"/>
              <a:ext cx="27686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100" b="1">
                  <a:solidFill>
                    <a:srgbClr val="176B8A"/>
                  </a:solidFill>
                  <a:latin typeface="Arial" panose="020B0604020202020204" pitchFamily="34" charset="0"/>
                </a:rPr>
                <a:t>AGENT</a:t>
              </a:r>
              <a:endParaRPr lang="zh-CN" altLang="en-US" sz="1100" b="1">
                <a:solidFill>
                  <a:srgbClr val="176B8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ference/title">
              <a:extLst>
                <a:ext uri="{FF2B5EF4-FFF2-40B4-BE49-F238E27FC236}">
                  <a16:creationId xmlns:a16="http://schemas.microsoft.com/office/drawing/2014/main" id="{633D1B86-74A7-F422-8713-6C09789C17B3}"/>
                </a:ext>
              </a:extLst>
            </p:cNvPr>
            <p:cNvSpPr txBox="1"/>
            <p:nvPr/>
          </p:nvSpPr>
          <p:spPr>
            <a:xfrm>
              <a:off x="711200" y="3124200"/>
              <a:ext cx="2806700" cy="4318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2100" b="1">
                  <a:solidFill>
                    <a:srgbClr val="172B4D"/>
                  </a:solidFill>
                  <a:latin typeface="Arial" panose="020B0604020202020204" pitchFamily="34" charset="0"/>
                </a:rPr>
                <a:t>Inspect reference</a:t>
              </a:r>
              <a:endParaRPr lang="zh-CN" altLang="en-US" sz="2100" b="1">
                <a:solidFill>
                  <a:srgbClr val="172B4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reference/rule">
              <a:extLst>
                <a:ext uri="{FF2B5EF4-FFF2-40B4-BE49-F238E27FC236}">
                  <a16:creationId xmlns:a16="http://schemas.microsoft.com/office/drawing/2014/main" id="{FA132B3B-2C44-F155-D1B5-C4E5DB0D48B0}"/>
                </a:ext>
              </a:extLst>
            </p:cNvPr>
            <p:cNvSpPr/>
            <p:nvPr/>
          </p:nvSpPr>
          <p:spPr>
            <a:xfrm>
              <a:off x="711200" y="3746500"/>
              <a:ext cx="431800" cy="38100"/>
            </a:xfrm>
            <a:prstGeom prst="rect">
              <a:avLst/>
            </a:prstGeom>
            <a:solidFill>
              <a:srgbClr val="176B8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ference/detail-1">
              <a:extLst>
                <a:ext uri="{FF2B5EF4-FFF2-40B4-BE49-F238E27FC236}">
                  <a16:creationId xmlns:a16="http://schemas.microsoft.com/office/drawing/2014/main" id="{882CA9DB-635D-2462-ADED-342E30053BAA}"/>
                </a:ext>
              </a:extLst>
            </p:cNvPr>
            <p:cNvSpPr txBox="1"/>
            <p:nvPr/>
          </p:nvSpPr>
          <p:spPr>
            <a:xfrm>
              <a:off x="711200" y="40132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Read labels and arrows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reference/detail-2">
              <a:extLst>
                <a:ext uri="{FF2B5EF4-FFF2-40B4-BE49-F238E27FC236}">
                  <a16:creationId xmlns:a16="http://schemas.microsoft.com/office/drawing/2014/main" id="{0B40DCAE-CB46-40D9-D202-04DD7CCB66F2}"/>
                </a:ext>
              </a:extLst>
            </p:cNvPr>
            <p:cNvSpPr txBox="1"/>
            <p:nvPr/>
          </p:nvSpPr>
          <p:spPr>
            <a:xfrm>
              <a:off x="711200" y="44069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Identify visible components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reference/detail-3">
              <a:extLst>
                <a:ext uri="{FF2B5EF4-FFF2-40B4-BE49-F238E27FC236}">
                  <a16:creationId xmlns:a16="http://schemas.microsoft.com/office/drawing/2014/main" id="{6CBC9559-EB47-4F32-53D7-E9316A7CC714}"/>
                </a:ext>
              </a:extLst>
            </p:cNvPr>
            <p:cNvSpPr txBox="1"/>
            <p:nvPr/>
          </p:nvSpPr>
          <p:spPr>
            <a:xfrm>
              <a:off x="711200" y="48006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Record uncertain details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stage/structure">
            <a:extLst>
              <a:ext uri="{FF2B5EF4-FFF2-40B4-BE49-F238E27FC236}">
                <a16:creationId xmlns:a16="http://schemas.microsoft.com/office/drawing/2014/main" id="{B0A58AAD-0AAD-812D-A117-FAC2DC71D3A1}"/>
              </a:ext>
            </a:extLst>
          </p:cNvPr>
          <p:cNvGrpSpPr/>
          <p:nvPr/>
        </p:nvGrpSpPr>
        <p:grpSpPr>
          <a:xfrm>
            <a:off x="4165600" y="2006600"/>
            <a:ext cx="3200400" cy="3403600"/>
            <a:chOff x="4165600" y="2006600"/>
            <a:chExt cx="3200400" cy="3403600"/>
          </a:xfrm>
        </p:grpSpPr>
        <p:sp>
          <p:nvSpPr>
            <p:cNvPr id="13" name="structure/panel">
              <a:extLst>
                <a:ext uri="{FF2B5EF4-FFF2-40B4-BE49-F238E27FC236}">
                  <a16:creationId xmlns:a16="http://schemas.microsoft.com/office/drawing/2014/main" id="{5EA64E1E-F8D1-C6E5-AEBA-C32DFF9CE30D}"/>
                </a:ext>
              </a:extLst>
            </p:cNvPr>
            <p:cNvSpPr/>
            <p:nvPr/>
          </p:nvSpPr>
          <p:spPr>
            <a:xfrm>
              <a:off x="4165600" y="2006600"/>
              <a:ext cx="3200400" cy="3403600"/>
            </a:xfrm>
            <a:prstGeom prst="rect">
              <a:avLst/>
            </a:prstGeom>
            <a:solidFill>
              <a:srgbClr val="F1F2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structure/number">
              <a:extLst>
                <a:ext uri="{FF2B5EF4-FFF2-40B4-BE49-F238E27FC236}">
                  <a16:creationId xmlns:a16="http://schemas.microsoft.com/office/drawing/2014/main" id="{8B992A2C-DA86-AB00-5E9F-1BD632361EB2}"/>
                </a:ext>
              </a:extLst>
            </p:cNvPr>
            <p:cNvSpPr txBox="1"/>
            <p:nvPr/>
          </p:nvSpPr>
          <p:spPr>
            <a:xfrm>
              <a:off x="4419600" y="2235200"/>
              <a:ext cx="508000" cy="3556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900" b="1">
                  <a:solidFill>
                    <a:srgbClr val="4B5BB5"/>
                  </a:solidFill>
                  <a:latin typeface="Arial" panose="020B0604020202020204" pitchFamily="34" charset="0"/>
                </a:rPr>
                <a:t>02</a:t>
              </a:r>
              <a:endParaRPr lang="zh-CN" altLang="en-US" sz="1900" b="1">
                <a:solidFill>
                  <a:srgbClr val="4B5BB5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structure/tag">
              <a:extLst>
                <a:ext uri="{FF2B5EF4-FFF2-40B4-BE49-F238E27FC236}">
                  <a16:creationId xmlns:a16="http://schemas.microsoft.com/office/drawing/2014/main" id="{CAB70C20-4977-1CD3-05EA-3C5662426D43}"/>
                </a:ext>
              </a:extLst>
            </p:cNvPr>
            <p:cNvSpPr txBox="1"/>
            <p:nvPr/>
          </p:nvSpPr>
          <p:spPr>
            <a:xfrm>
              <a:off x="4419600" y="2679700"/>
              <a:ext cx="27686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100" b="1">
                  <a:solidFill>
                    <a:srgbClr val="4B5BB5"/>
                  </a:solidFill>
                  <a:latin typeface="Arial" panose="020B0604020202020204" pitchFamily="34" charset="0"/>
                </a:rPr>
                <a:t>STRUCTURE</a:t>
              </a:r>
              <a:endParaRPr lang="zh-CN" altLang="en-US" sz="1100" b="1">
                <a:solidFill>
                  <a:srgbClr val="4B5BB5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structure/title">
              <a:extLst>
                <a:ext uri="{FF2B5EF4-FFF2-40B4-BE49-F238E27FC236}">
                  <a16:creationId xmlns:a16="http://schemas.microsoft.com/office/drawing/2014/main" id="{DE98B551-F4D2-8DDD-1DD6-05D395C52DE5}"/>
                </a:ext>
              </a:extLst>
            </p:cNvPr>
            <p:cNvSpPr txBox="1"/>
            <p:nvPr/>
          </p:nvSpPr>
          <p:spPr>
            <a:xfrm>
              <a:off x="4419600" y="3124200"/>
              <a:ext cx="2806700" cy="4318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2100" b="1">
                  <a:solidFill>
                    <a:srgbClr val="172B4D"/>
                  </a:solidFill>
                  <a:latin typeface="Arial" panose="020B0604020202020204" pitchFamily="34" charset="0"/>
                </a:rPr>
                <a:t>Record structure</a:t>
              </a:r>
              <a:endParaRPr lang="zh-CN" altLang="en-US" sz="2100" b="1">
                <a:solidFill>
                  <a:srgbClr val="172B4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structure/rule">
              <a:extLst>
                <a:ext uri="{FF2B5EF4-FFF2-40B4-BE49-F238E27FC236}">
                  <a16:creationId xmlns:a16="http://schemas.microsoft.com/office/drawing/2014/main" id="{F1BB91DF-C86A-794D-7FF2-A4434579490F}"/>
                </a:ext>
              </a:extLst>
            </p:cNvPr>
            <p:cNvSpPr/>
            <p:nvPr/>
          </p:nvSpPr>
          <p:spPr>
            <a:xfrm>
              <a:off x="4419600" y="3746500"/>
              <a:ext cx="431800" cy="38100"/>
            </a:xfrm>
            <a:prstGeom prst="rect">
              <a:avLst/>
            </a:prstGeom>
            <a:solidFill>
              <a:srgbClr val="4B5BB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structure/detail-1">
              <a:extLst>
                <a:ext uri="{FF2B5EF4-FFF2-40B4-BE49-F238E27FC236}">
                  <a16:creationId xmlns:a16="http://schemas.microsoft.com/office/drawing/2014/main" id="{943B2344-931E-C4FA-049E-7458B77069D3}"/>
                </a:ext>
              </a:extLst>
            </p:cNvPr>
            <p:cNvSpPr txBox="1"/>
            <p:nvPr/>
          </p:nvSpPr>
          <p:spPr>
            <a:xfrm>
              <a:off x="4419600" y="40132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Instrument scene or topology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structure/detail-2">
              <a:extLst>
                <a:ext uri="{FF2B5EF4-FFF2-40B4-BE49-F238E27FC236}">
                  <a16:creationId xmlns:a16="http://schemas.microsoft.com/office/drawing/2014/main" id="{43DE92B4-D75E-AED4-A5AC-84408A493903}"/>
                </a:ext>
              </a:extLst>
            </p:cNvPr>
            <p:cNvSpPr txBox="1"/>
            <p:nvPr/>
          </p:nvSpPr>
          <p:spPr>
            <a:xfrm>
              <a:off x="4419600" y="44069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Geometry, labels and layers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structure/detail-3">
              <a:extLst>
                <a:ext uri="{FF2B5EF4-FFF2-40B4-BE49-F238E27FC236}">
                  <a16:creationId xmlns:a16="http://schemas.microsoft.com/office/drawing/2014/main" id="{56DDA6F8-4CBE-D0AB-A562-EF969F2E8DEE}"/>
                </a:ext>
              </a:extLst>
            </p:cNvPr>
            <p:cNvSpPr txBox="1"/>
            <p:nvPr/>
          </p:nvSpPr>
          <p:spPr>
            <a:xfrm>
              <a:off x="4419600" y="48006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Keep source evidence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0" name="stage/drawing">
            <a:extLst>
              <a:ext uri="{FF2B5EF4-FFF2-40B4-BE49-F238E27FC236}">
                <a16:creationId xmlns:a16="http://schemas.microsoft.com/office/drawing/2014/main" id="{3D8902AB-2182-879F-2573-7E85A83E2732}"/>
              </a:ext>
            </a:extLst>
          </p:cNvPr>
          <p:cNvGrpSpPr/>
          <p:nvPr/>
        </p:nvGrpSpPr>
        <p:grpSpPr>
          <a:xfrm>
            <a:off x="7874000" y="2006600"/>
            <a:ext cx="3200400" cy="3403600"/>
            <a:chOff x="7874000" y="2006600"/>
            <a:chExt cx="3200400" cy="3403600"/>
          </a:xfrm>
        </p:grpSpPr>
        <p:sp>
          <p:nvSpPr>
            <p:cNvPr id="22" name="drawing/panel">
              <a:extLst>
                <a:ext uri="{FF2B5EF4-FFF2-40B4-BE49-F238E27FC236}">
                  <a16:creationId xmlns:a16="http://schemas.microsoft.com/office/drawing/2014/main" id="{8C864C85-B0A1-FC53-9961-83816D2EC996}"/>
                </a:ext>
              </a:extLst>
            </p:cNvPr>
            <p:cNvSpPr/>
            <p:nvPr/>
          </p:nvSpPr>
          <p:spPr>
            <a:xfrm>
              <a:off x="7874000" y="2006600"/>
              <a:ext cx="3200400" cy="3403600"/>
            </a:xfrm>
            <a:prstGeom prst="rect">
              <a:avLst/>
            </a:prstGeom>
            <a:solidFill>
              <a:srgbClr val="EFF7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drawing/number">
              <a:extLst>
                <a:ext uri="{FF2B5EF4-FFF2-40B4-BE49-F238E27FC236}">
                  <a16:creationId xmlns:a16="http://schemas.microsoft.com/office/drawing/2014/main" id="{AF8327CF-F2AD-1F8B-B033-5B34B210812A}"/>
                </a:ext>
              </a:extLst>
            </p:cNvPr>
            <p:cNvSpPr txBox="1"/>
            <p:nvPr/>
          </p:nvSpPr>
          <p:spPr>
            <a:xfrm>
              <a:off x="8128000" y="2235200"/>
              <a:ext cx="508000" cy="3556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900" b="1">
                  <a:solidFill>
                    <a:srgbClr val="267466"/>
                  </a:solidFill>
                  <a:latin typeface="Arial" panose="020B0604020202020204" pitchFamily="34" charset="0"/>
                </a:rPr>
                <a:t>03</a:t>
              </a:r>
              <a:endParaRPr lang="zh-CN" altLang="en-US" sz="1900" b="1">
                <a:solidFill>
                  <a:srgbClr val="2674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drawing/tag">
              <a:extLst>
                <a:ext uri="{FF2B5EF4-FFF2-40B4-BE49-F238E27FC236}">
                  <a16:creationId xmlns:a16="http://schemas.microsoft.com/office/drawing/2014/main" id="{C6811581-D6F6-4F1C-E2BD-3D1F4755A1EE}"/>
                </a:ext>
              </a:extLst>
            </p:cNvPr>
            <p:cNvSpPr txBox="1"/>
            <p:nvPr/>
          </p:nvSpPr>
          <p:spPr>
            <a:xfrm>
              <a:off x="8128000" y="2679700"/>
              <a:ext cx="27686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100" b="1">
                  <a:solidFill>
                    <a:srgbClr val="267466"/>
                  </a:solidFill>
                  <a:latin typeface="Arial" panose="020B0604020202020204" pitchFamily="34" charset="0"/>
                </a:rPr>
                <a:t>POWERPOINT COM</a:t>
              </a:r>
              <a:endParaRPr lang="zh-CN" altLang="en-US" sz="1100" b="1">
                <a:solidFill>
                  <a:srgbClr val="2674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drawing/title">
              <a:extLst>
                <a:ext uri="{FF2B5EF4-FFF2-40B4-BE49-F238E27FC236}">
                  <a16:creationId xmlns:a16="http://schemas.microsoft.com/office/drawing/2014/main" id="{0BDB8022-ABC8-9C04-4EC6-C4C84E406C67}"/>
                </a:ext>
              </a:extLst>
            </p:cNvPr>
            <p:cNvSpPr txBox="1"/>
            <p:nvPr/>
          </p:nvSpPr>
          <p:spPr>
            <a:xfrm>
              <a:off x="8128000" y="3124200"/>
              <a:ext cx="2806700" cy="4318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2100" b="1">
                  <a:solidFill>
                    <a:srgbClr val="172B4D"/>
                  </a:solidFill>
                  <a:latin typeface="Arial" panose="020B0604020202020204" pitchFamily="34" charset="0"/>
                </a:rPr>
                <a:t>Draw native PPT</a:t>
              </a:r>
              <a:endParaRPr lang="zh-CN" altLang="en-US" sz="2100" b="1">
                <a:solidFill>
                  <a:srgbClr val="172B4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drawing/rule">
              <a:extLst>
                <a:ext uri="{FF2B5EF4-FFF2-40B4-BE49-F238E27FC236}">
                  <a16:creationId xmlns:a16="http://schemas.microsoft.com/office/drawing/2014/main" id="{337236E3-CEED-D9E7-9CD4-E424118A4908}"/>
                </a:ext>
              </a:extLst>
            </p:cNvPr>
            <p:cNvSpPr/>
            <p:nvPr/>
          </p:nvSpPr>
          <p:spPr>
            <a:xfrm>
              <a:off x="8128000" y="3746500"/>
              <a:ext cx="431800" cy="38100"/>
            </a:xfrm>
            <a:prstGeom prst="rect">
              <a:avLst/>
            </a:prstGeom>
            <a:solidFill>
              <a:srgbClr val="26746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drawing/detail-1">
              <a:extLst>
                <a:ext uri="{FF2B5EF4-FFF2-40B4-BE49-F238E27FC236}">
                  <a16:creationId xmlns:a16="http://schemas.microsoft.com/office/drawing/2014/main" id="{1C23880B-ECF5-EAC7-76E0-A863CDFA9207}"/>
                </a:ext>
              </a:extLst>
            </p:cNvPr>
            <p:cNvSpPr txBox="1"/>
            <p:nvPr/>
          </p:nvSpPr>
          <p:spPr>
            <a:xfrm>
              <a:off x="8128000" y="40132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Shapes, text and connectors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drawing/detail-2">
              <a:extLst>
                <a:ext uri="{FF2B5EF4-FFF2-40B4-BE49-F238E27FC236}">
                  <a16:creationId xmlns:a16="http://schemas.microsoft.com/office/drawing/2014/main" id="{81AA4DEE-451A-8EE0-A122-19F56D654270}"/>
                </a:ext>
              </a:extLst>
            </p:cNvPr>
            <p:cNvSpPr txBox="1"/>
            <p:nvPr/>
          </p:nvSpPr>
          <p:spPr>
            <a:xfrm>
              <a:off x="8128000" y="44069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Materials and named groups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drawing/detail-3">
              <a:extLst>
                <a:ext uri="{FF2B5EF4-FFF2-40B4-BE49-F238E27FC236}">
                  <a16:creationId xmlns:a16="http://schemas.microsoft.com/office/drawing/2014/main" id="{10CA9CEF-B6EC-2445-34B8-E8AF01F569BD}"/>
                </a:ext>
              </a:extLst>
            </p:cNvPr>
            <p:cNvSpPr txBox="1"/>
            <p:nvPr/>
          </p:nvSpPr>
          <p:spPr>
            <a:xfrm>
              <a:off x="8128000" y="48006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Editable component surfaces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9" name="stage/review">
            <a:extLst>
              <a:ext uri="{FF2B5EF4-FFF2-40B4-BE49-F238E27FC236}">
                <a16:creationId xmlns:a16="http://schemas.microsoft.com/office/drawing/2014/main" id="{7F695AE3-DCF5-93C4-B833-280B702C7DD3}"/>
              </a:ext>
            </a:extLst>
          </p:cNvPr>
          <p:cNvGrpSpPr/>
          <p:nvPr/>
        </p:nvGrpSpPr>
        <p:grpSpPr>
          <a:xfrm>
            <a:off x="11582400" y="2006600"/>
            <a:ext cx="3200400" cy="3403600"/>
            <a:chOff x="11582400" y="2006600"/>
            <a:chExt cx="3200400" cy="3403600"/>
          </a:xfrm>
        </p:grpSpPr>
        <p:sp>
          <p:nvSpPr>
            <p:cNvPr id="31" name="review/panel">
              <a:extLst>
                <a:ext uri="{FF2B5EF4-FFF2-40B4-BE49-F238E27FC236}">
                  <a16:creationId xmlns:a16="http://schemas.microsoft.com/office/drawing/2014/main" id="{D8BAF489-BC79-B9D5-EF67-78503A7CA7F8}"/>
                </a:ext>
              </a:extLst>
            </p:cNvPr>
            <p:cNvSpPr/>
            <p:nvPr/>
          </p:nvSpPr>
          <p:spPr>
            <a:xfrm>
              <a:off x="11582400" y="2006600"/>
              <a:ext cx="3200400" cy="3403600"/>
            </a:xfrm>
            <a:prstGeom prst="rect">
              <a:avLst/>
            </a:prstGeom>
            <a:solidFill>
              <a:srgbClr val="FBF6E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review/number">
              <a:extLst>
                <a:ext uri="{FF2B5EF4-FFF2-40B4-BE49-F238E27FC236}">
                  <a16:creationId xmlns:a16="http://schemas.microsoft.com/office/drawing/2014/main" id="{88388A99-7B85-3A6B-E515-CB733F951BDD}"/>
                </a:ext>
              </a:extLst>
            </p:cNvPr>
            <p:cNvSpPr txBox="1"/>
            <p:nvPr/>
          </p:nvSpPr>
          <p:spPr>
            <a:xfrm>
              <a:off x="11836400" y="2235200"/>
              <a:ext cx="508000" cy="3556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900" b="1">
                  <a:solidFill>
                    <a:srgbClr val="9A6419"/>
                  </a:solidFill>
                  <a:latin typeface="Arial" panose="020B0604020202020204" pitchFamily="34" charset="0"/>
                </a:rPr>
                <a:t>04</a:t>
              </a:r>
              <a:endParaRPr lang="zh-CN" altLang="en-US" sz="1900" b="1">
                <a:solidFill>
                  <a:srgbClr val="9A64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review/tag">
              <a:extLst>
                <a:ext uri="{FF2B5EF4-FFF2-40B4-BE49-F238E27FC236}">
                  <a16:creationId xmlns:a16="http://schemas.microsoft.com/office/drawing/2014/main" id="{34B2F793-B3B2-15A4-BBF9-05246BEE2A77}"/>
                </a:ext>
              </a:extLst>
            </p:cNvPr>
            <p:cNvSpPr txBox="1"/>
            <p:nvPr/>
          </p:nvSpPr>
          <p:spPr>
            <a:xfrm>
              <a:off x="11836400" y="2679700"/>
              <a:ext cx="27686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100" b="1">
                  <a:solidFill>
                    <a:srgbClr val="9A6419"/>
                  </a:solidFill>
                  <a:latin typeface="Arial" panose="020B0604020202020204" pitchFamily="34" charset="0"/>
                </a:rPr>
                <a:t>CHECK + AGENT REVIEW</a:t>
              </a:r>
              <a:endParaRPr lang="zh-CN" altLang="en-US" sz="1100" b="1">
                <a:solidFill>
                  <a:srgbClr val="9A64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review/title">
              <a:extLst>
                <a:ext uri="{FF2B5EF4-FFF2-40B4-BE49-F238E27FC236}">
                  <a16:creationId xmlns:a16="http://schemas.microsoft.com/office/drawing/2014/main" id="{1C2A14AB-03B4-4BE0-78F3-84B2BE5379EA}"/>
                </a:ext>
              </a:extLst>
            </p:cNvPr>
            <p:cNvSpPr txBox="1"/>
            <p:nvPr/>
          </p:nvSpPr>
          <p:spPr>
            <a:xfrm>
              <a:off x="11836400" y="3124200"/>
              <a:ext cx="2806700" cy="4318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2100" b="1">
                  <a:solidFill>
                    <a:srgbClr val="172B4D"/>
                  </a:solidFill>
                  <a:latin typeface="Arial" panose="020B0604020202020204" pitchFamily="34" charset="0"/>
                </a:rPr>
                <a:t>Render and review</a:t>
              </a:r>
              <a:endParaRPr lang="zh-CN" altLang="en-US" sz="2100" b="1">
                <a:solidFill>
                  <a:srgbClr val="172B4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review/rule">
              <a:extLst>
                <a:ext uri="{FF2B5EF4-FFF2-40B4-BE49-F238E27FC236}">
                  <a16:creationId xmlns:a16="http://schemas.microsoft.com/office/drawing/2014/main" id="{A1E8D4F9-0D70-F738-63A3-4A1B864C117A}"/>
                </a:ext>
              </a:extLst>
            </p:cNvPr>
            <p:cNvSpPr/>
            <p:nvPr/>
          </p:nvSpPr>
          <p:spPr>
            <a:xfrm>
              <a:off x="11836400" y="3746500"/>
              <a:ext cx="431800" cy="38100"/>
            </a:xfrm>
            <a:prstGeom prst="rect">
              <a:avLst/>
            </a:prstGeom>
            <a:solidFill>
              <a:srgbClr val="9A641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review/detail-1">
              <a:extLst>
                <a:ext uri="{FF2B5EF4-FFF2-40B4-BE49-F238E27FC236}">
                  <a16:creationId xmlns:a16="http://schemas.microsoft.com/office/drawing/2014/main" id="{0090A313-0278-4D23-1B23-6D0BDF088CE1}"/>
                </a:ext>
              </a:extLst>
            </p:cNvPr>
            <p:cNvSpPr txBox="1"/>
            <p:nvPr/>
          </p:nvSpPr>
          <p:spPr>
            <a:xfrm>
              <a:off x="11836400" y="40132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Check structure and labels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review/detail-2">
              <a:extLst>
                <a:ext uri="{FF2B5EF4-FFF2-40B4-BE49-F238E27FC236}">
                  <a16:creationId xmlns:a16="http://schemas.microsoft.com/office/drawing/2014/main" id="{05936FB1-A9D8-5D54-B530-F78B52D945FB}"/>
                </a:ext>
              </a:extLst>
            </p:cNvPr>
            <p:cNvSpPr txBox="1"/>
            <p:nvPr/>
          </p:nvSpPr>
          <p:spPr>
            <a:xfrm>
              <a:off x="11836400" y="44069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Inspect overlap and arrows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review/detail-3">
              <a:extLst>
                <a:ext uri="{FF2B5EF4-FFF2-40B4-BE49-F238E27FC236}">
                  <a16:creationId xmlns:a16="http://schemas.microsoft.com/office/drawing/2014/main" id="{53327A3F-7C56-222D-165F-42DF96B5D1DF}"/>
                </a:ext>
              </a:extLst>
            </p:cNvPr>
            <p:cNvSpPr txBox="1"/>
            <p:nvPr/>
          </p:nvSpPr>
          <p:spPr>
            <a:xfrm>
              <a:off x="11836400" y="4800600"/>
              <a:ext cx="2806700" cy="3302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1500">
                  <a:solidFill>
                    <a:srgbClr val="34465F"/>
                  </a:solidFill>
                  <a:latin typeface="Arial" panose="020B0604020202020204" pitchFamily="34" charset="0"/>
                </a:rPr>
                <a:t>Deliver PPTX, PNG and notes</a:t>
              </a:r>
              <a:endParaRPr lang="zh-CN" altLang="en-US" sz="1500">
                <a:solidFill>
                  <a:srgbClr val="34465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0" name="flow/reference-to-structure">
            <a:extLst>
              <a:ext uri="{FF2B5EF4-FFF2-40B4-BE49-F238E27FC236}">
                <a16:creationId xmlns:a16="http://schemas.microsoft.com/office/drawing/2014/main" id="{6A2AA505-3DCD-DAFE-C5B4-D61E5EDF5094}"/>
              </a:ext>
            </a:extLst>
          </p:cNvPr>
          <p:cNvSpPr/>
          <p:nvPr/>
        </p:nvSpPr>
        <p:spPr>
          <a:xfrm>
            <a:off x="3683000" y="3340100"/>
            <a:ext cx="444501" cy="1"/>
          </a:xfrm>
          <a:custGeom>
            <a:avLst/>
            <a:gdLst/>
            <a:ahLst/>
            <a:cxnLst/>
            <a:rect l="0" t="0" r="0" b="0"/>
            <a:pathLst>
              <a:path w="444501" h="1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31750">
            <a:solidFill>
              <a:srgbClr val="7383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low/structure-to-drawing">
            <a:extLst>
              <a:ext uri="{FF2B5EF4-FFF2-40B4-BE49-F238E27FC236}">
                <a16:creationId xmlns:a16="http://schemas.microsoft.com/office/drawing/2014/main" id="{2A2D3420-32C5-7AE7-C5DF-535F7FC1479A}"/>
              </a:ext>
            </a:extLst>
          </p:cNvPr>
          <p:cNvSpPr/>
          <p:nvPr/>
        </p:nvSpPr>
        <p:spPr>
          <a:xfrm>
            <a:off x="7391400" y="3340100"/>
            <a:ext cx="444501" cy="1"/>
          </a:xfrm>
          <a:custGeom>
            <a:avLst/>
            <a:gdLst/>
            <a:ahLst/>
            <a:cxnLst/>
            <a:rect l="0" t="0" r="0" b="0"/>
            <a:pathLst>
              <a:path w="444501" h="1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31750">
            <a:solidFill>
              <a:srgbClr val="7383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flow/drawing-to-review">
            <a:extLst>
              <a:ext uri="{FF2B5EF4-FFF2-40B4-BE49-F238E27FC236}">
                <a16:creationId xmlns:a16="http://schemas.microsoft.com/office/drawing/2014/main" id="{61DFE9AF-E83A-FC55-DECE-21B22C9B863F}"/>
              </a:ext>
            </a:extLst>
          </p:cNvPr>
          <p:cNvSpPr/>
          <p:nvPr/>
        </p:nvSpPr>
        <p:spPr>
          <a:xfrm>
            <a:off x="11099800" y="3340100"/>
            <a:ext cx="444501" cy="1"/>
          </a:xfrm>
          <a:custGeom>
            <a:avLst/>
            <a:gdLst/>
            <a:ahLst/>
            <a:cxnLst/>
            <a:rect l="0" t="0" r="0" b="0"/>
            <a:pathLst>
              <a:path w="444501" h="1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31750">
            <a:solidFill>
              <a:srgbClr val="7383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repair/review-to-structure">
            <a:extLst>
              <a:ext uri="{FF2B5EF4-FFF2-40B4-BE49-F238E27FC236}">
                <a16:creationId xmlns:a16="http://schemas.microsoft.com/office/drawing/2014/main" id="{3AC59F51-DE8E-360F-252C-2D1F7D652E35}"/>
              </a:ext>
            </a:extLst>
          </p:cNvPr>
          <p:cNvSpPr/>
          <p:nvPr/>
        </p:nvSpPr>
        <p:spPr>
          <a:xfrm>
            <a:off x="5765800" y="5461000"/>
            <a:ext cx="7416801" cy="774701"/>
          </a:xfrm>
          <a:custGeom>
            <a:avLst/>
            <a:gdLst/>
            <a:ahLst/>
            <a:cxnLst/>
            <a:rect l="0" t="0" r="0" b="0"/>
            <a:pathLst>
              <a:path w="7416801" h="774701">
                <a:moveTo>
                  <a:pt x="7416800" y="0"/>
                </a:moveTo>
                <a:lnTo>
                  <a:pt x="7416800" y="774700"/>
                </a:lnTo>
                <a:lnTo>
                  <a:pt x="0" y="774700"/>
                </a:lnTo>
                <a:lnTo>
                  <a:pt x="0" y="0"/>
                </a:lnTo>
              </a:path>
            </a:pathLst>
          </a:custGeom>
          <a:ln w="31750">
            <a:solidFill>
              <a:srgbClr val="4B5BB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epair/label">
            <a:extLst>
              <a:ext uri="{FF2B5EF4-FFF2-40B4-BE49-F238E27FC236}">
                <a16:creationId xmlns:a16="http://schemas.microsoft.com/office/drawing/2014/main" id="{A52FE263-BFAF-22A6-6DE9-E0A27A9D012F}"/>
              </a:ext>
            </a:extLst>
          </p:cNvPr>
          <p:cNvSpPr txBox="1"/>
          <p:nvPr/>
        </p:nvSpPr>
        <p:spPr>
          <a:xfrm>
            <a:off x="6184900" y="5765800"/>
            <a:ext cx="68453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500">
                <a:solidFill>
                  <a:srgbClr val="4B5BB5"/>
                </a:solidFill>
                <a:latin typeface="Arial" panose="020B0604020202020204" pitchFamily="34" charset="0"/>
              </a:rPr>
              <a:t>Local correction: update the affected component, then render again</a:t>
            </a:r>
            <a:endParaRPr lang="zh-CN" altLang="en-US" sz="1500">
              <a:solidFill>
                <a:srgbClr val="4B5BB5"/>
              </a:solidFill>
              <a:latin typeface="Arial" panose="020B0604020202020204" pitchFamily="34" charset="0"/>
            </a:endParaRPr>
          </a:p>
        </p:txBody>
      </p:sp>
      <p:sp>
        <p:nvSpPr>
          <p:cNvPr id="45" name="footer/rule">
            <a:extLst>
              <a:ext uri="{FF2B5EF4-FFF2-40B4-BE49-F238E27FC236}">
                <a16:creationId xmlns:a16="http://schemas.microsoft.com/office/drawing/2014/main" id="{BA9A72DB-A67D-08A1-6053-53963E5A1E1F}"/>
              </a:ext>
            </a:extLst>
          </p:cNvPr>
          <p:cNvSpPr/>
          <p:nvPr/>
        </p:nvSpPr>
        <p:spPr>
          <a:xfrm>
            <a:off x="457200" y="6858000"/>
            <a:ext cx="14325600" cy="12700"/>
          </a:xfrm>
          <a:prstGeom prst="rect">
            <a:avLst/>
          </a:prstGeom>
          <a:solidFill>
            <a:srgbClr val="DCE3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footer/priorities">
            <a:extLst>
              <a:ext uri="{FF2B5EF4-FFF2-40B4-BE49-F238E27FC236}">
                <a16:creationId xmlns:a16="http://schemas.microsoft.com/office/drawing/2014/main" id="{54FA5204-22B4-3907-B41D-26E7E472A409}"/>
              </a:ext>
            </a:extLst>
          </p:cNvPr>
          <p:cNvSpPr txBox="1"/>
          <p:nvPr/>
        </p:nvSpPr>
        <p:spPr>
          <a:xfrm>
            <a:off x="457200" y="7061200"/>
            <a:ext cx="143256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600">
                <a:solidFill>
                  <a:srgbClr val="52627A"/>
                </a:solidFill>
                <a:latin typeface="Arial" panose="020B0604020202020204" pitchFamily="34" charset="0"/>
              </a:rPr>
              <a:t>Structure first. Native editability next. Visual polish after verification.</a:t>
            </a:r>
            <a:endParaRPr lang="zh-CN" altLang="en-US" sz="1600">
              <a:solidFill>
                <a:srgbClr val="52627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88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自定义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 李</dc:creator>
  <cp:lastModifiedBy>源 李</cp:lastModifiedBy>
  <cp:revision>1</cp:revision>
  <dcterms:created xsi:type="dcterms:W3CDTF">2026-10-27T08:01:05Z</dcterms:created>
  <dcterms:modified xsi:type="dcterms:W3CDTF">2026-10-27T08:01:05Z</dcterms:modified>
</cp:coreProperties>
</file>